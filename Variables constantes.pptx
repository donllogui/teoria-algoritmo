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290E96-F35D-09EE-3F9E-D7D02029E9C3}" v="751" dt="2026-04-15T03:47:43.3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4/14/2026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0149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4/14/2026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98393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4/14/2026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184336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4/14/2026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598887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4/14/2026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708516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4/14/2026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259126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4/14/2026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848287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4/14/2026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431927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4/14/2026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065076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4/14/2026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309823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4/14/2026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379558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4/14/2026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52104130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549A2296-F2BE-C10D-65E4-A60F1560FD0B}"/>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ctrTitle"/>
          </p:nvPr>
        </p:nvSpPr>
        <p:spPr>
          <a:xfrm>
            <a:off x="477981" y="1122363"/>
            <a:ext cx="10795635" cy="1165784"/>
          </a:xfrm>
        </p:spPr>
        <p:txBody>
          <a:bodyPr anchor="b">
            <a:normAutofit fontScale="90000"/>
          </a:bodyPr>
          <a:lstStyle/>
          <a:p>
            <a:r>
              <a:rPr lang="es-ES" sz="4800" dirty="0"/>
              <a:t>Procesador memoria </a:t>
            </a:r>
            <a:r>
              <a:rPr lang="es-ES" sz="4800" dirty="0" err="1"/>
              <a:t>Ram</a:t>
            </a:r>
            <a:r>
              <a:rPr lang="es-ES" sz="4800" dirty="0"/>
              <a:t> memoria Rom</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BD9EC5E7-E071-A04C-108E-0ED08E9CDD12}"/>
              </a:ext>
            </a:extLst>
          </p:cNvPr>
          <p:cNvPicPr>
            <a:picLocks noChangeAspect="1"/>
          </p:cNvPicPr>
          <p:nvPr/>
        </p:nvPicPr>
        <p:blipFill>
          <a:blip r:embed="rId3"/>
          <a:stretch>
            <a:fillRect/>
          </a:stretch>
        </p:blipFill>
        <p:spPr>
          <a:xfrm>
            <a:off x="1176338" y="2695575"/>
            <a:ext cx="2828925" cy="1866900"/>
          </a:xfrm>
          <a:prstGeom prst="rect">
            <a:avLst/>
          </a:prstGeom>
        </p:spPr>
      </p:pic>
      <p:pic>
        <p:nvPicPr>
          <p:cNvPr id="6" name="Imagen 5" descr="Imagen que contiene electrónica, circuito&#10;&#10;El contenido generado por IA puede ser incorrecto.">
            <a:extLst>
              <a:ext uri="{FF2B5EF4-FFF2-40B4-BE49-F238E27FC236}">
                <a16:creationId xmlns:a16="http://schemas.microsoft.com/office/drawing/2014/main" id="{6DA121A5-624F-B8A8-637B-788D60A0A8AD}"/>
              </a:ext>
            </a:extLst>
          </p:cNvPr>
          <p:cNvPicPr>
            <a:picLocks noChangeAspect="1"/>
          </p:cNvPicPr>
          <p:nvPr/>
        </p:nvPicPr>
        <p:blipFill>
          <a:blip r:embed="rId4"/>
          <a:stretch>
            <a:fillRect/>
          </a:stretch>
        </p:blipFill>
        <p:spPr>
          <a:xfrm>
            <a:off x="5053013" y="2905125"/>
            <a:ext cx="2790825" cy="1447800"/>
          </a:xfrm>
          <a:prstGeom prst="rect">
            <a:avLst/>
          </a:prstGeom>
        </p:spPr>
      </p:pic>
      <p:pic>
        <p:nvPicPr>
          <p:cNvPr id="7" name="Imagen 6">
            <a:extLst>
              <a:ext uri="{FF2B5EF4-FFF2-40B4-BE49-F238E27FC236}">
                <a16:creationId xmlns:a16="http://schemas.microsoft.com/office/drawing/2014/main" id="{0B9CCC4E-563C-98C5-0692-48C7041AF3F7}"/>
              </a:ext>
            </a:extLst>
          </p:cNvPr>
          <p:cNvPicPr>
            <a:picLocks noChangeAspect="1"/>
          </p:cNvPicPr>
          <p:nvPr/>
        </p:nvPicPr>
        <p:blipFill>
          <a:blip r:embed="rId5"/>
          <a:stretch>
            <a:fillRect/>
          </a:stretch>
        </p:blipFill>
        <p:spPr>
          <a:xfrm>
            <a:off x="8634413" y="4348163"/>
            <a:ext cx="2867025" cy="1514475"/>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D7D29-EDA6-13F2-111B-73ED4A091F13}"/>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D85DF4BD-C151-ED52-C44D-C5BE046A8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FA1B5CDF-5FD1-4960-15E9-50AEE500B941}"/>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2B76A9B0-6F45-D85C-3E53-6153A8BB0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0F82679D-B9C4-A009-6AB3-410F7BEF0534}"/>
              </a:ext>
            </a:extLst>
          </p:cNvPr>
          <p:cNvSpPr>
            <a:spLocks noGrp="1"/>
          </p:cNvSpPr>
          <p:nvPr>
            <p:ph type="ctrTitle"/>
          </p:nvPr>
        </p:nvSpPr>
        <p:spPr>
          <a:xfrm>
            <a:off x="1430481" y="703263"/>
            <a:ext cx="10119360" cy="1232459"/>
          </a:xfrm>
        </p:spPr>
        <p:txBody>
          <a:bodyPr anchor="b">
            <a:normAutofit/>
          </a:bodyPr>
          <a:lstStyle/>
          <a:p>
            <a:r>
              <a:rPr lang="es-ES" sz="4800" dirty="0" err="1"/>
              <a:t>Codigo</a:t>
            </a:r>
            <a:r>
              <a:rPr lang="es-ES" sz="4800" dirty="0"/>
              <a:t> Binario – Lenguaje Maquina</a:t>
            </a:r>
          </a:p>
        </p:txBody>
      </p:sp>
      <p:sp>
        <p:nvSpPr>
          <p:cNvPr id="13" name="Rectangle 12">
            <a:extLst>
              <a:ext uri="{FF2B5EF4-FFF2-40B4-BE49-F238E27FC236}">
                <a16:creationId xmlns:a16="http://schemas.microsoft.com/office/drawing/2014/main" id="{5B0383E9-84C7-6DD1-F941-CFBC22FB3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C58B964-EE1A-8C14-7AE0-BD139B84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98CDF5E6-B93B-1479-169C-1267F3A84BFE}"/>
              </a:ext>
            </a:extLst>
          </p:cNvPr>
          <p:cNvSpPr txBox="1"/>
          <p:nvPr/>
        </p:nvSpPr>
        <p:spPr>
          <a:xfrm>
            <a:off x="638175" y="2819400"/>
            <a:ext cx="264795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dirty="0">
                <a:latin typeface="Google Sans"/>
                <a:ea typeface="Google Sans"/>
                <a:cs typeface="Google Sans"/>
              </a:rPr>
              <a:t>El </a:t>
            </a:r>
            <a:r>
              <a:rPr lang="en-US" dirty="0">
                <a:latin typeface="Google Sans"/>
                <a:ea typeface="Google Sans"/>
                <a:cs typeface="Google Sans"/>
              </a:rPr>
              <a:t>Código</a:t>
            </a:r>
            <a:r>
              <a:rPr lang="en-US" b="0" i="0" dirty="0">
                <a:latin typeface="Google Sans"/>
                <a:ea typeface="Google Sans"/>
                <a:cs typeface="Google Sans"/>
              </a:rPr>
              <a:t> </a:t>
            </a:r>
            <a:r>
              <a:rPr lang="en-US" b="0" i="0" dirty="0" err="1">
                <a:latin typeface="Google Sans"/>
                <a:ea typeface="Google Sans"/>
                <a:cs typeface="Google Sans"/>
              </a:rPr>
              <a:t>binario</a:t>
            </a:r>
            <a:r>
              <a:rPr lang="en-US" b="0" i="0" dirty="0">
                <a:latin typeface="Google Sans"/>
                <a:ea typeface="Google Sans"/>
                <a:cs typeface="Google Sans"/>
              </a:rPr>
              <a:t> es un </a:t>
            </a:r>
            <a:r>
              <a:rPr lang="en-US" b="0" i="0" dirty="0" err="1">
                <a:latin typeface="Google Sans"/>
                <a:ea typeface="Google Sans"/>
                <a:cs typeface="Google Sans"/>
              </a:rPr>
              <a:t>método</a:t>
            </a:r>
            <a:r>
              <a:rPr lang="en-US" b="0" i="0" dirty="0">
                <a:latin typeface="Google Sans"/>
                <a:ea typeface="Google Sans"/>
                <a:cs typeface="Google Sans"/>
              </a:rPr>
              <a:t> de </a:t>
            </a:r>
            <a:r>
              <a:rPr lang="en-US" b="0" i="0" dirty="0" err="1">
                <a:latin typeface="Google Sans"/>
                <a:ea typeface="Google Sans"/>
                <a:cs typeface="Google Sans"/>
              </a:rPr>
              <a:t>representar</a:t>
            </a:r>
            <a:r>
              <a:rPr lang="en-US" b="0" i="0" dirty="0">
                <a:latin typeface="Google Sans"/>
                <a:ea typeface="Google Sans"/>
                <a:cs typeface="Google Sans"/>
              </a:rPr>
              <a:t> </a:t>
            </a:r>
            <a:r>
              <a:rPr lang="en-US" b="0" i="0" dirty="0" err="1">
                <a:latin typeface="Google Sans"/>
                <a:ea typeface="Google Sans"/>
                <a:cs typeface="Google Sans"/>
              </a:rPr>
              <a:t>datos</a:t>
            </a:r>
            <a:r>
              <a:rPr lang="en-US" b="0" i="0" dirty="0">
                <a:latin typeface="Google Sans"/>
                <a:ea typeface="Google Sans"/>
                <a:cs typeface="Google Sans"/>
              </a:rPr>
              <a:t> o </a:t>
            </a:r>
            <a:r>
              <a:rPr lang="en-US" b="0" i="0" dirty="0" err="1">
                <a:latin typeface="Google Sans"/>
                <a:ea typeface="Google Sans"/>
                <a:cs typeface="Google Sans"/>
              </a:rPr>
              <a:t>instrucciones</a:t>
            </a:r>
            <a:r>
              <a:rPr lang="en-US" b="0" i="0" dirty="0">
                <a:latin typeface="Google Sans"/>
                <a:ea typeface="Google Sans"/>
                <a:cs typeface="Google Sans"/>
              </a:rPr>
              <a:t> </a:t>
            </a:r>
            <a:r>
              <a:rPr lang="en-US" b="0" i="0" dirty="0" err="1">
                <a:latin typeface="Google Sans"/>
                <a:ea typeface="Google Sans"/>
                <a:cs typeface="Google Sans"/>
              </a:rPr>
              <a:t>utilizando</a:t>
            </a:r>
            <a:r>
              <a:rPr lang="en-US" b="0" i="0" dirty="0">
                <a:latin typeface="Google Sans"/>
                <a:ea typeface="Google Sans"/>
                <a:cs typeface="Google Sans"/>
              </a:rPr>
              <a:t> </a:t>
            </a:r>
            <a:r>
              <a:rPr lang="en-US" b="0" i="0" dirty="0" err="1">
                <a:latin typeface="Google Sans"/>
                <a:ea typeface="Google Sans"/>
                <a:cs typeface="Google Sans"/>
              </a:rPr>
              <a:t>los</a:t>
            </a:r>
            <a:r>
              <a:rPr lang="en-US" b="0" i="0" dirty="0">
                <a:latin typeface="Google Sans"/>
                <a:ea typeface="Google Sans"/>
                <a:cs typeface="Google Sans"/>
              </a:rPr>
              <a:t> </a:t>
            </a:r>
            <a:r>
              <a:rPr lang="en-US" b="0" i="0" dirty="0" err="1">
                <a:latin typeface="Google Sans"/>
                <a:ea typeface="Google Sans"/>
                <a:cs typeface="Google Sans"/>
              </a:rPr>
              <a:t>dígitos</a:t>
            </a:r>
            <a:r>
              <a:rPr lang="en-US" b="0" i="0" dirty="0">
                <a:latin typeface="Google Sans"/>
                <a:ea typeface="Google Sans"/>
                <a:cs typeface="Google Sans"/>
              </a:rPr>
              <a:t> 0 y 1.</a:t>
            </a:r>
            <a:endParaRPr lang="en-US" dirty="0"/>
          </a:p>
          <a:p>
            <a:pPr algn="ctr"/>
            <a:endParaRPr lang="es-ES" dirty="0"/>
          </a:p>
        </p:txBody>
      </p:sp>
      <p:pic>
        <p:nvPicPr>
          <p:cNvPr id="4" name="Imagen 3" descr="Icono&#10;&#10;El contenido generado por IA puede ser incorrecto.">
            <a:extLst>
              <a:ext uri="{FF2B5EF4-FFF2-40B4-BE49-F238E27FC236}">
                <a16:creationId xmlns:a16="http://schemas.microsoft.com/office/drawing/2014/main" id="{322CDC92-F4FB-AF32-486C-ABD5DA0F7C6A}"/>
              </a:ext>
            </a:extLst>
          </p:cNvPr>
          <p:cNvPicPr>
            <a:picLocks noChangeAspect="1"/>
          </p:cNvPicPr>
          <p:nvPr/>
        </p:nvPicPr>
        <p:blipFill>
          <a:blip r:embed="rId3"/>
          <a:stretch>
            <a:fillRect/>
          </a:stretch>
        </p:blipFill>
        <p:spPr>
          <a:xfrm>
            <a:off x="390525" y="5053013"/>
            <a:ext cx="1200150" cy="1304925"/>
          </a:xfrm>
          <a:prstGeom prst="rect">
            <a:avLst/>
          </a:prstGeom>
        </p:spPr>
      </p:pic>
      <p:pic>
        <p:nvPicPr>
          <p:cNvPr id="8" name="Imagen 7" descr="Interfaz de usuario gráfica&#10;&#10;El contenido generado por IA puede ser incorrecto.">
            <a:extLst>
              <a:ext uri="{FF2B5EF4-FFF2-40B4-BE49-F238E27FC236}">
                <a16:creationId xmlns:a16="http://schemas.microsoft.com/office/drawing/2014/main" id="{93BFB22E-19B3-0F3C-4CB6-524B9F7B0946}"/>
              </a:ext>
            </a:extLst>
          </p:cNvPr>
          <p:cNvPicPr>
            <a:picLocks noChangeAspect="1"/>
          </p:cNvPicPr>
          <p:nvPr/>
        </p:nvPicPr>
        <p:blipFill>
          <a:blip r:embed="rId4"/>
          <a:stretch>
            <a:fillRect/>
          </a:stretch>
        </p:blipFill>
        <p:spPr>
          <a:xfrm>
            <a:off x="1962150" y="4938713"/>
            <a:ext cx="1371600" cy="1533525"/>
          </a:xfrm>
          <a:prstGeom prst="rect">
            <a:avLst/>
          </a:prstGeom>
        </p:spPr>
      </p:pic>
      <p:sp>
        <p:nvSpPr>
          <p:cNvPr id="9" name="CuadroTexto 8">
            <a:extLst>
              <a:ext uri="{FF2B5EF4-FFF2-40B4-BE49-F238E27FC236}">
                <a16:creationId xmlns:a16="http://schemas.microsoft.com/office/drawing/2014/main" id="{E0FE6353-1E67-DAD3-7E28-E621F8417F24}"/>
              </a:ext>
            </a:extLst>
          </p:cNvPr>
          <p:cNvSpPr txBox="1"/>
          <p:nvPr/>
        </p:nvSpPr>
        <p:spPr>
          <a:xfrm>
            <a:off x="5040085" y="2590800"/>
            <a:ext cx="37746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err="1"/>
              <a:t>analisis</a:t>
            </a:r>
            <a:r>
              <a:rPr lang="es-ES" dirty="0"/>
              <a:t> y desarrollo de software</a:t>
            </a:r>
          </a:p>
        </p:txBody>
      </p:sp>
      <p:sp>
        <p:nvSpPr>
          <p:cNvPr id="10" name="CuadroTexto 9">
            <a:extLst>
              <a:ext uri="{FF2B5EF4-FFF2-40B4-BE49-F238E27FC236}">
                <a16:creationId xmlns:a16="http://schemas.microsoft.com/office/drawing/2014/main" id="{39542C32-5888-2F81-68FC-2E54F904816C}"/>
              </a:ext>
            </a:extLst>
          </p:cNvPr>
          <p:cNvSpPr txBox="1"/>
          <p:nvPr/>
        </p:nvSpPr>
        <p:spPr>
          <a:xfrm>
            <a:off x="5369378" y="3431721"/>
            <a:ext cx="682126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ea typeface="+mn-lt"/>
                <a:cs typeface="+mn-lt"/>
              </a:rPr>
              <a:t>01100001 01101110 01100001 01101100 01101001 01110011 01101001 01110011 00100000 01111001 00100000 01100100 01100101 01110011 01100001 01110010 01110010 01101111 01101100 01101100 01101111 00100000 01100100 01100101 00100000 01110011 01101111 01100110 01110100 01110111 01100001 01110010 01100101</a:t>
            </a:r>
            <a:endParaRPr lang="es-ES"/>
          </a:p>
        </p:txBody>
      </p:sp>
    </p:spTree>
    <p:extLst>
      <p:ext uri="{BB962C8B-B14F-4D97-AF65-F5344CB8AC3E}">
        <p14:creationId xmlns:p14="http://schemas.microsoft.com/office/powerpoint/2010/main" val="2606698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24DD04-CD76-6451-425E-8C31C75A1F38}"/>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43163E6E-3785-2542-2B14-2E689DE1A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EB3A477A-47DA-1657-D6F8-2EFCB215A66E}"/>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5455BFFC-AF3F-2DA1-847C-5ED1F9557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1D0F76F-209A-3D3A-175A-E9708A4E3473}"/>
              </a:ext>
            </a:extLst>
          </p:cNvPr>
          <p:cNvSpPr>
            <a:spLocks noGrp="1"/>
          </p:cNvSpPr>
          <p:nvPr>
            <p:ph type="ctrTitle"/>
          </p:nvPr>
        </p:nvSpPr>
        <p:spPr>
          <a:xfrm>
            <a:off x="4467595" y="616178"/>
            <a:ext cx="4230189" cy="1243344"/>
          </a:xfrm>
        </p:spPr>
        <p:txBody>
          <a:bodyPr anchor="b">
            <a:normAutofit/>
          </a:bodyPr>
          <a:lstStyle/>
          <a:p>
            <a:r>
              <a:rPr lang="es-ES" sz="4800" dirty="0" err="1"/>
              <a:t>Codigo</a:t>
            </a:r>
            <a:r>
              <a:rPr lang="es-ES" sz="4800" dirty="0"/>
              <a:t> </a:t>
            </a:r>
            <a:r>
              <a:rPr lang="es-ES" sz="4800" dirty="0" err="1"/>
              <a:t>Ascii</a:t>
            </a:r>
          </a:p>
        </p:txBody>
      </p:sp>
      <p:sp>
        <p:nvSpPr>
          <p:cNvPr id="13" name="Rectangle 12">
            <a:extLst>
              <a:ext uri="{FF2B5EF4-FFF2-40B4-BE49-F238E27FC236}">
                <a16:creationId xmlns:a16="http://schemas.microsoft.com/office/drawing/2014/main" id="{6B05BB9F-D140-7719-76FC-91AA6F519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9F34C7D6-C709-8072-E89B-2B1C91415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1C9F342A-9267-A08B-2BBE-EA5C572E2D76}"/>
              </a:ext>
            </a:extLst>
          </p:cNvPr>
          <p:cNvSpPr txBox="1"/>
          <p:nvPr/>
        </p:nvSpPr>
        <p:spPr>
          <a:xfrm>
            <a:off x="638175" y="2775858"/>
            <a:ext cx="423726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latin typeface="Google Sans"/>
                <a:ea typeface="+mn-lt"/>
                <a:cs typeface="+mn-lt"/>
              </a:rPr>
              <a:t>E</a:t>
            </a:r>
            <a:r>
              <a:rPr lang="en-US" sz="1200" dirty="0" err="1">
                <a:ea typeface="+mn-lt"/>
                <a:cs typeface="+mn-lt"/>
              </a:rPr>
              <a:t>El</a:t>
            </a:r>
            <a:r>
              <a:rPr lang="en-US" sz="1200" dirty="0">
                <a:ea typeface="+mn-lt"/>
                <a:cs typeface="+mn-lt"/>
              </a:rPr>
              <a:t> </a:t>
            </a:r>
            <a:r>
              <a:rPr lang="en-US" sz="1200" b="1" dirty="0" err="1">
                <a:ea typeface="+mn-lt"/>
                <a:cs typeface="+mn-lt"/>
              </a:rPr>
              <a:t>código</a:t>
            </a:r>
            <a:r>
              <a:rPr lang="en-US" sz="1200" b="1" dirty="0">
                <a:ea typeface="+mn-lt"/>
                <a:cs typeface="+mn-lt"/>
              </a:rPr>
              <a:t> ASCII</a:t>
            </a:r>
            <a:r>
              <a:rPr lang="en-US" dirty="0">
                <a:ea typeface="+mn-lt"/>
                <a:cs typeface="+mn-lt"/>
              </a:rPr>
              <a:t> (</a:t>
            </a:r>
            <a:r>
              <a:rPr lang="en-US" sz="1200" i="1" dirty="0">
                <a:ea typeface="+mn-lt"/>
                <a:cs typeface="+mn-lt"/>
              </a:rPr>
              <a:t>American Standard Code for Information Interchange</a:t>
            </a:r>
            <a:r>
              <a:rPr lang="en-US" dirty="0">
                <a:ea typeface="+mn-lt"/>
                <a:cs typeface="+mn-lt"/>
              </a:rPr>
              <a:t>) </a:t>
            </a:r>
            <a:r>
              <a:rPr lang="en-US" sz="1200" b="0" i="0" dirty="0">
                <a:ea typeface="+mn-lt"/>
                <a:cs typeface="+mn-lt"/>
              </a:rPr>
              <a:t>es un</a:t>
            </a:r>
            <a:r>
              <a:rPr lang="en-US" sz="1200" dirty="0">
                <a:ea typeface="+mn-lt"/>
                <a:cs typeface="+mn-lt"/>
              </a:rPr>
              <a:t> </a:t>
            </a:r>
            <a:r>
              <a:rPr lang="en-US" sz="1200" dirty="0" err="1">
                <a:ea typeface="+mn-lt"/>
                <a:cs typeface="+mn-lt"/>
              </a:rPr>
              <a:t>estándar</a:t>
            </a:r>
            <a:r>
              <a:rPr lang="en-US" sz="1200" dirty="0">
                <a:ea typeface="+mn-lt"/>
                <a:cs typeface="+mn-lt"/>
              </a:rPr>
              <a:t> </a:t>
            </a:r>
            <a:r>
              <a:rPr lang="en-US" sz="1200" b="0" i="0" dirty="0">
                <a:ea typeface="+mn-lt"/>
                <a:cs typeface="+mn-lt"/>
              </a:rPr>
              <a:t>de </a:t>
            </a:r>
            <a:r>
              <a:rPr lang="en-US" sz="1200" dirty="0" err="1">
                <a:ea typeface="+mn-lt"/>
                <a:cs typeface="+mn-lt"/>
              </a:rPr>
              <a:t>codificación</a:t>
            </a:r>
            <a:r>
              <a:rPr lang="en-US" sz="1200" dirty="0">
                <a:ea typeface="+mn-lt"/>
                <a:cs typeface="+mn-lt"/>
              </a:rPr>
              <a:t> </a:t>
            </a:r>
            <a:r>
              <a:rPr lang="en-US" sz="1200" dirty="0" err="1">
                <a:ea typeface="+mn-lt"/>
                <a:cs typeface="+mn-lt"/>
              </a:rPr>
              <a:t>que</a:t>
            </a:r>
            <a:r>
              <a:rPr lang="en-US" sz="1200" dirty="0">
                <a:ea typeface="+mn-lt"/>
                <a:cs typeface="+mn-lt"/>
              </a:rPr>
              <a:t> </a:t>
            </a:r>
            <a:r>
              <a:rPr lang="en-US" sz="1200" dirty="0" err="1">
                <a:ea typeface="+mn-lt"/>
                <a:cs typeface="+mn-lt"/>
              </a:rPr>
              <a:t>asigna</a:t>
            </a:r>
            <a:r>
              <a:rPr lang="en-US" sz="1200" dirty="0">
                <a:ea typeface="+mn-lt"/>
                <a:cs typeface="+mn-lt"/>
              </a:rPr>
              <a:t> un </a:t>
            </a:r>
            <a:r>
              <a:rPr lang="en-US" sz="1200" dirty="0" err="1">
                <a:ea typeface="+mn-lt"/>
                <a:cs typeface="+mn-lt"/>
              </a:rPr>
              <a:t>número</a:t>
            </a:r>
            <a:r>
              <a:rPr lang="en-US" sz="1200" dirty="0">
                <a:ea typeface="+mn-lt"/>
                <a:cs typeface="+mn-lt"/>
              </a:rPr>
              <a:t> a </a:t>
            </a:r>
            <a:r>
              <a:rPr lang="en-US" sz="1200" dirty="0" err="1">
                <a:ea typeface="+mn-lt"/>
                <a:cs typeface="+mn-lt"/>
              </a:rPr>
              <a:t>cada</a:t>
            </a:r>
            <a:r>
              <a:rPr lang="en-US" sz="1200" dirty="0">
                <a:ea typeface="+mn-lt"/>
                <a:cs typeface="+mn-lt"/>
              </a:rPr>
              <a:t> </a:t>
            </a:r>
            <a:r>
              <a:rPr lang="en-US" sz="1200" dirty="0" err="1">
                <a:ea typeface="+mn-lt"/>
                <a:cs typeface="+mn-lt"/>
              </a:rPr>
              <a:t>carácter</a:t>
            </a:r>
            <a:r>
              <a:rPr lang="en-US" sz="1200" dirty="0">
                <a:ea typeface="+mn-lt"/>
                <a:cs typeface="+mn-lt"/>
              </a:rPr>
              <a:t> (</a:t>
            </a:r>
            <a:r>
              <a:rPr lang="en-US" sz="1200" dirty="0" err="1">
                <a:ea typeface="+mn-lt"/>
                <a:cs typeface="+mn-lt"/>
              </a:rPr>
              <a:t>letras</a:t>
            </a:r>
            <a:r>
              <a:rPr lang="en-US" sz="1200" dirty="0">
                <a:ea typeface="+mn-lt"/>
                <a:cs typeface="+mn-lt"/>
              </a:rPr>
              <a:t>, </a:t>
            </a:r>
            <a:r>
              <a:rPr lang="en-US" sz="1200" dirty="0" err="1">
                <a:ea typeface="+mn-lt"/>
                <a:cs typeface="+mn-lt"/>
              </a:rPr>
              <a:t>números</a:t>
            </a:r>
            <a:r>
              <a:rPr lang="en-US" sz="1200" dirty="0">
                <a:ea typeface="+mn-lt"/>
                <a:cs typeface="+mn-lt"/>
              </a:rPr>
              <a:t> y </a:t>
            </a:r>
            <a:r>
              <a:rPr lang="en-US" sz="1200" dirty="0" err="1">
                <a:ea typeface="+mn-lt"/>
                <a:cs typeface="+mn-lt"/>
              </a:rPr>
              <a:t>símbolos</a:t>
            </a:r>
            <a:r>
              <a:rPr lang="en-US" sz="1200" dirty="0">
                <a:ea typeface="+mn-lt"/>
                <a:cs typeface="+mn-lt"/>
              </a:rPr>
              <a:t>) para </a:t>
            </a:r>
            <a:r>
              <a:rPr lang="en-US" sz="1200" dirty="0" err="1">
                <a:ea typeface="+mn-lt"/>
                <a:cs typeface="+mn-lt"/>
              </a:rPr>
              <a:t>que</a:t>
            </a:r>
            <a:r>
              <a:rPr lang="en-US" sz="1200" dirty="0">
                <a:ea typeface="+mn-lt"/>
                <a:cs typeface="+mn-lt"/>
              </a:rPr>
              <a:t> las </a:t>
            </a:r>
            <a:r>
              <a:rPr lang="en-US" sz="1200" dirty="0" err="1">
                <a:ea typeface="+mn-lt"/>
                <a:cs typeface="+mn-lt"/>
              </a:rPr>
              <a:t>computadoras</a:t>
            </a:r>
            <a:r>
              <a:rPr lang="en-US" sz="1200" dirty="0">
                <a:ea typeface="+mn-lt"/>
                <a:cs typeface="+mn-lt"/>
              </a:rPr>
              <a:t> </a:t>
            </a:r>
            <a:r>
              <a:rPr lang="en-US" sz="1200" dirty="0" err="1">
                <a:ea typeface="+mn-lt"/>
                <a:cs typeface="+mn-lt"/>
              </a:rPr>
              <a:t>puedan</a:t>
            </a:r>
            <a:r>
              <a:rPr lang="en-US" sz="1200" dirty="0">
                <a:ea typeface="+mn-lt"/>
                <a:cs typeface="+mn-lt"/>
              </a:rPr>
              <a:t> </a:t>
            </a:r>
            <a:r>
              <a:rPr lang="en-US" sz="1200" dirty="0" err="1">
                <a:ea typeface="+mn-lt"/>
                <a:cs typeface="+mn-lt"/>
              </a:rPr>
              <a:t>procesarlos</a:t>
            </a:r>
            <a:r>
              <a:rPr lang="en-US" sz="1200" dirty="0">
                <a:ea typeface="+mn-lt"/>
                <a:cs typeface="+mn-lt"/>
              </a:rPr>
              <a:t> </a:t>
            </a:r>
            <a:r>
              <a:rPr lang="en-US" sz="1200" b="0" i="0" dirty="0">
                <a:ea typeface="+mn-lt"/>
                <a:cs typeface="+mn-lt"/>
              </a:rPr>
              <a:t>y </a:t>
            </a:r>
            <a:r>
              <a:rPr lang="en-US" sz="1200" dirty="0" err="1">
                <a:ea typeface="+mn-lt"/>
                <a:cs typeface="+mn-lt"/>
              </a:rPr>
              <a:t>almacenarlos</a:t>
            </a:r>
            <a:endParaRPr lang="en-US" dirty="0" err="1"/>
          </a:p>
          <a:p>
            <a:pPr algn="ctr"/>
            <a:endParaRPr lang="es-ES" dirty="0"/>
          </a:p>
        </p:txBody>
      </p:sp>
      <p:sp>
        <p:nvSpPr>
          <p:cNvPr id="9" name="CuadroTexto 8">
            <a:extLst>
              <a:ext uri="{FF2B5EF4-FFF2-40B4-BE49-F238E27FC236}">
                <a16:creationId xmlns:a16="http://schemas.microsoft.com/office/drawing/2014/main" id="{21F70D0F-FCC4-B614-2E6E-3B0F0EF8F035}"/>
              </a:ext>
            </a:extLst>
          </p:cNvPr>
          <p:cNvSpPr txBox="1"/>
          <p:nvPr/>
        </p:nvSpPr>
        <p:spPr>
          <a:xfrm>
            <a:off x="5040085" y="2590800"/>
            <a:ext cx="37746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err="1"/>
              <a:t>analisis</a:t>
            </a:r>
            <a:r>
              <a:rPr lang="es-ES" dirty="0"/>
              <a:t> y desarrollo de software</a:t>
            </a:r>
          </a:p>
        </p:txBody>
      </p:sp>
      <p:pic>
        <p:nvPicPr>
          <p:cNvPr id="5" name="Imagen 4" descr="Tabla&#10;&#10;El contenido generado por IA puede ser incorrecto.">
            <a:extLst>
              <a:ext uri="{FF2B5EF4-FFF2-40B4-BE49-F238E27FC236}">
                <a16:creationId xmlns:a16="http://schemas.microsoft.com/office/drawing/2014/main" id="{356DCEBC-0AA2-29C2-B822-BD98C93D49EC}"/>
              </a:ext>
            </a:extLst>
          </p:cNvPr>
          <p:cNvPicPr>
            <a:picLocks noChangeAspect="1"/>
          </p:cNvPicPr>
          <p:nvPr/>
        </p:nvPicPr>
        <p:blipFill>
          <a:blip r:embed="rId3"/>
          <a:stretch>
            <a:fillRect/>
          </a:stretch>
        </p:blipFill>
        <p:spPr>
          <a:xfrm>
            <a:off x="5040766" y="2140403"/>
            <a:ext cx="6726011" cy="4808765"/>
          </a:xfrm>
          <a:prstGeom prst="rect">
            <a:avLst/>
          </a:prstGeom>
        </p:spPr>
      </p:pic>
    </p:spTree>
    <p:extLst>
      <p:ext uri="{BB962C8B-B14F-4D97-AF65-F5344CB8AC3E}">
        <p14:creationId xmlns:p14="http://schemas.microsoft.com/office/powerpoint/2010/main" val="2798391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AC9489-CCAA-127D-F795-5243B824A8B0}"/>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34D94149-628A-3851-416D-B3E68F4ED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669F0128-A65E-D961-52D6-2C1D86F20E9F}"/>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5BE20279-A8AA-E410-0E39-6FB8CE04F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8D68969-437F-9448-1D8D-3E84E3602C8B}"/>
              </a:ext>
            </a:extLst>
          </p:cNvPr>
          <p:cNvSpPr>
            <a:spLocks noGrp="1"/>
          </p:cNvSpPr>
          <p:nvPr>
            <p:ph type="ctrTitle"/>
          </p:nvPr>
        </p:nvSpPr>
        <p:spPr>
          <a:xfrm>
            <a:off x="2758538" y="768578"/>
            <a:ext cx="6766560" cy="1243344"/>
          </a:xfrm>
        </p:spPr>
        <p:txBody>
          <a:bodyPr anchor="b">
            <a:normAutofit/>
          </a:bodyPr>
          <a:lstStyle/>
          <a:p>
            <a:r>
              <a:rPr lang="es-ES" sz="4800"/>
              <a:t>Variables – Constantes </a:t>
            </a:r>
          </a:p>
        </p:txBody>
      </p:sp>
      <p:sp>
        <p:nvSpPr>
          <p:cNvPr id="13" name="Rectangle 12">
            <a:extLst>
              <a:ext uri="{FF2B5EF4-FFF2-40B4-BE49-F238E27FC236}">
                <a16:creationId xmlns:a16="http://schemas.microsoft.com/office/drawing/2014/main" id="{4DA8284E-994D-04FB-D706-9F2C9ABD3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FCF36F8-D06D-F57F-E8F0-870226F3F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E99BDC94-8791-9D4B-FA61-849E3D47C16A}"/>
              </a:ext>
            </a:extLst>
          </p:cNvPr>
          <p:cNvSpPr txBox="1"/>
          <p:nvPr/>
        </p:nvSpPr>
        <p:spPr>
          <a:xfrm>
            <a:off x="474889" y="2166258"/>
            <a:ext cx="4237264"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Google Sans"/>
                <a:ea typeface="+mn-lt"/>
                <a:cs typeface="+mn-lt"/>
              </a:rPr>
              <a:t>Variables </a:t>
            </a:r>
            <a:endParaRPr lang="en-US" sz="1200" b="1" i="1">
              <a:ea typeface="+mn-lt"/>
              <a:cs typeface="+mn-lt"/>
            </a:endParaRPr>
          </a:p>
          <a:p>
            <a:endParaRPr lang="en-US" b="1" dirty="0">
              <a:latin typeface="Google Sans"/>
              <a:ea typeface="+mn-lt"/>
              <a:cs typeface="+mn-lt"/>
            </a:endParaRPr>
          </a:p>
          <a:p>
            <a:r>
              <a:rPr lang="en-US" sz="1600" dirty="0">
                <a:ea typeface="+mn-lt"/>
                <a:cs typeface="+mn-lt"/>
              </a:rPr>
              <a:t>Las </a:t>
            </a:r>
            <a:r>
              <a:rPr lang="en-US" sz="1600" b="1" dirty="0">
                <a:ea typeface="+mn-lt"/>
                <a:cs typeface="+mn-lt"/>
              </a:rPr>
              <a:t>variables</a:t>
            </a:r>
            <a:r>
              <a:rPr lang="en-US" sz="1600" dirty="0">
                <a:ea typeface="+mn-lt"/>
                <a:cs typeface="+mn-lt"/>
              </a:rPr>
              <a:t> son </a:t>
            </a:r>
            <a:r>
              <a:rPr lang="en-US" sz="1600" dirty="0" err="1">
                <a:ea typeface="+mn-lt"/>
                <a:cs typeface="+mn-lt"/>
              </a:rPr>
              <a:t>espacios</a:t>
            </a:r>
            <a:r>
              <a:rPr lang="en-US" sz="1600" dirty="0">
                <a:ea typeface="+mn-lt"/>
                <a:cs typeface="+mn-lt"/>
              </a:rPr>
              <a:t> de memoria </a:t>
            </a:r>
            <a:r>
              <a:rPr lang="en-US" sz="1600" dirty="0" err="1">
                <a:ea typeface="+mn-lt"/>
                <a:cs typeface="+mn-lt"/>
              </a:rPr>
              <a:t>que</a:t>
            </a:r>
            <a:r>
              <a:rPr lang="en-US" sz="1600" dirty="0">
                <a:ea typeface="+mn-lt"/>
                <a:cs typeface="+mn-lt"/>
              </a:rPr>
              <a:t> </a:t>
            </a:r>
            <a:r>
              <a:rPr lang="en-US" sz="1600" dirty="0" err="1">
                <a:ea typeface="+mn-lt"/>
                <a:cs typeface="+mn-lt"/>
              </a:rPr>
              <a:t>almacenan</a:t>
            </a:r>
            <a:r>
              <a:rPr lang="en-US" sz="1600" dirty="0">
                <a:ea typeface="+mn-lt"/>
                <a:cs typeface="+mn-lt"/>
              </a:rPr>
              <a:t> </a:t>
            </a:r>
            <a:r>
              <a:rPr lang="en-US" sz="1600" dirty="0" err="1">
                <a:ea typeface="+mn-lt"/>
                <a:cs typeface="+mn-lt"/>
              </a:rPr>
              <a:t>datos</a:t>
            </a:r>
            <a:r>
              <a:rPr lang="en-US" sz="1600" dirty="0">
                <a:ea typeface="+mn-lt"/>
                <a:cs typeface="+mn-lt"/>
              </a:rPr>
              <a:t> </a:t>
            </a:r>
            <a:r>
              <a:rPr lang="en-US" sz="1600" dirty="0" err="1">
                <a:ea typeface="+mn-lt"/>
                <a:cs typeface="+mn-lt"/>
              </a:rPr>
              <a:t>cuyo</a:t>
            </a:r>
            <a:r>
              <a:rPr lang="en-US" sz="1600" dirty="0">
                <a:ea typeface="+mn-lt"/>
                <a:cs typeface="+mn-lt"/>
              </a:rPr>
              <a:t> valor </a:t>
            </a:r>
            <a:r>
              <a:rPr lang="en-US" sz="1600" dirty="0" err="1">
                <a:ea typeface="+mn-lt"/>
                <a:cs typeface="+mn-lt"/>
              </a:rPr>
              <a:t>puede</a:t>
            </a:r>
            <a:r>
              <a:rPr lang="en-US" sz="1600" dirty="0">
                <a:ea typeface="+mn-lt"/>
                <a:cs typeface="+mn-lt"/>
              </a:rPr>
              <a:t> </a:t>
            </a:r>
            <a:r>
              <a:rPr lang="en-US" sz="1600" dirty="0" err="1">
                <a:ea typeface="+mn-lt"/>
                <a:cs typeface="+mn-lt"/>
              </a:rPr>
              <a:t>cambiar</a:t>
            </a:r>
            <a:r>
              <a:rPr lang="en-US" sz="1600" dirty="0">
                <a:ea typeface="+mn-lt"/>
                <a:cs typeface="+mn-lt"/>
              </a:rPr>
              <a:t> </a:t>
            </a:r>
            <a:r>
              <a:rPr lang="en-US" sz="1600" dirty="0" err="1">
                <a:ea typeface="+mn-lt"/>
                <a:cs typeface="+mn-lt"/>
              </a:rPr>
              <a:t>durante</a:t>
            </a:r>
            <a:r>
              <a:rPr lang="en-US" sz="1600" dirty="0">
                <a:ea typeface="+mn-lt"/>
                <a:cs typeface="+mn-lt"/>
              </a:rPr>
              <a:t> la </a:t>
            </a:r>
            <a:r>
              <a:rPr lang="en-US" sz="1600" dirty="0" err="1">
                <a:ea typeface="+mn-lt"/>
                <a:cs typeface="+mn-lt"/>
              </a:rPr>
              <a:t>ejecución</a:t>
            </a:r>
            <a:r>
              <a:rPr lang="en-US" sz="1600" dirty="0">
                <a:ea typeface="+mn-lt"/>
                <a:cs typeface="+mn-lt"/>
              </a:rPr>
              <a:t> de un </a:t>
            </a:r>
            <a:r>
              <a:rPr lang="en-US" sz="1600" dirty="0" err="1">
                <a:ea typeface="+mn-lt"/>
                <a:cs typeface="+mn-lt"/>
              </a:rPr>
              <a:t>programa</a:t>
            </a:r>
            <a:r>
              <a:rPr lang="en-US" sz="1600" dirty="0">
                <a:ea typeface="+mn-lt"/>
                <a:cs typeface="+mn-lt"/>
              </a:rPr>
              <a:t>.  </a:t>
            </a:r>
            <a:endParaRPr lang="en-US" sz="1600" dirty="0"/>
          </a:p>
          <a:p>
            <a:pPr algn="ctr"/>
            <a:endParaRPr lang="es-ES" dirty="0"/>
          </a:p>
        </p:txBody>
      </p:sp>
      <p:sp>
        <p:nvSpPr>
          <p:cNvPr id="9" name="CuadroTexto 8">
            <a:extLst>
              <a:ext uri="{FF2B5EF4-FFF2-40B4-BE49-F238E27FC236}">
                <a16:creationId xmlns:a16="http://schemas.microsoft.com/office/drawing/2014/main" id="{736F5E80-C785-591A-4D66-A79E4B1BCD7E}"/>
              </a:ext>
            </a:extLst>
          </p:cNvPr>
          <p:cNvSpPr txBox="1"/>
          <p:nvPr/>
        </p:nvSpPr>
        <p:spPr>
          <a:xfrm>
            <a:off x="5225142" y="2394857"/>
            <a:ext cx="6506934"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b="1"/>
              <a:t>Constante</a:t>
            </a:r>
          </a:p>
          <a:p>
            <a:endParaRPr lang="es-ES" sz="3200" b="1" dirty="0"/>
          </a:p>
          <a:p>
            <a:r>
              <a:rPr lang="es-ES">
                <a:ea typeface="+mn-lt"/>
                <a:cs typeface="+mn-lt"/>
              </a:rPr>
              <a:t>las </a:t>
            </a:r>
            <a:r>
              <a:rPr lang="es-ES" b="1">
                <a:ea typeface="+mn-lt"/>
                <a:cs typeface="+mn-lt"/>
              </a:rPr>
              <a:t>constantes</a:t>
            </a:r>
            <a:r>
              <a:rPr lang="es-ES">
                <a:ea typeface="+mn-lt"/>
                <a:cs typeface="+mn-lt"/>
              </a:rPr>
              <a:t> son elementos con un valor fijo y predefinido que no se modifica en ningún momento.</a:t>
            </a:r>
            <a:endParaRPr lang="es-ES"/>
          </a:p>
        </p:txBody>
      </p:sp>
      <p:pic>
        <p:nvPicPr>
          <p:cNvPr id="6" name="Imagen 5" descr="Texto&#10;&#10;El contenido generado por IA puede ser incorrecto.">
            <a:extLst>
              <a:ext uri="{FF2B5EF4-FFF2-40B4-BE49-F238E27FC236}">
                <a16:creationId xmlns:a16="http://schemas.microsoft.com/office/drawing/2014/main" id="{7FE4F3F4-9AB2-4D71-BAA9-A4592FAFFD6D}"/>
              </a:ext>
            </a:extLst>
          </p:cNvPr>
          <p:cNvPicPr>
            <a:picLocks noChangeAspect="1"/>
          </p:cNvPicPr>
          <p:nvPr/>
        </p:nvPicPr>
        <p:blipFill>
          <a:blip r:embed="rId3"/>
          <a:stretch>
            <a:fillRect/>
          </a:stretch>
        </p:blipFill>
        <p:spPr>
          <a:xfrm>
            <a:off x="3572556" y="4293734"/>
            <a:ext cx="5612947" cy="2559504"/>
          </a:xfrm>
          <a:prstGeom prst="rect">
            <a:avLst/>
          </a:prstGeom>
        </p:spPr>
      </p:pic>
    </p:spTree>
    <p:extLst>
      <p:ext uri="{BB962C8B-B14F-4D97-AF65-F5344CB8AC3E}">
        <p14:creationId xmlns:p14="http://schemas.microsoft.com/office/powerpoint/2010/main" val="3446583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187B07-AD2A-98BB-C222-F6AA11AD09CA}"/>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E4190D26-E5A0-C6DB-272B-BE8352DB4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C7DC9794-CA82-C293-FEC1-71F36F1977D6}"/>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202E5090-043C-168B-0451-4B3025B09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F0F9161-5EFC-A000-A135-626AEDFE16BA}"/>
              </a:ext>
            </a:extLst>
          </p:cNvPr>
          <p:cNvSpPr>
            <a:spLocks noGrp="1"/>
          </p:cNvSpPr>
          <p:nvPr>
            <p:ph type="ctrTitle"/>
          </p:nvPr>
        </p:nvSpPr>
        <p:spPr>
          <a:xfrm>
            <a:off x="4467595" y="344035"/>
            <a:ext cx="3337560" cy="1243344"/>
          </a:xfrm>
        </p:spPr>
        <p:txBody>
          <a:bodyPr anchor="b">
            <a:normAutofit/>
          </a:bodyPr>
          <a:lstStyle/>
          <a:p>
            <a:r>
              <a:rPr lang="es-ES" sz="4800"/>
              <a:t>Variables  </a:t>
            </a:r>
          </a:p>
        </p:txBody>
      </p:sp>
      <p:sp>
        <p:nvSpPr>
          <p:cNvPr id="13" name="Rectangle 12">
            <a:extLst>
              <a:ext uri="{FF2B5EF4-FFF2-40B4-BE49-F238E27FC236}">
                <a16:creationId xmlns:a16="http://schemas.microsoft.com/office/drawing/2014/main" id="{6B6B3FB4-F80F-1CA2-D6D7-2F9F588E2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6B9CAD2C-397F-A863-2429-CB1A1CE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EB2128E3-9D0B-0F12-F324-B92D455FB33A}"/>
              </a:ext>
            </a:extLst>
          </p:cNvPr>
          <p:cNvSpPr txBox="1"/>
          <p:nvPr/>
        </p:nvSpPr>
        <p:spPr>
          <a:xfrm>
            <a:off x="485774" y="2166258"/>
            <a:ext cx="1097552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latin typeface="Google Sans"/>
                <a:ea typeface="+mn-lt"/>
                <a:cs typeface="+mn-lt"/>
              </a:rPr>
              <a:t>Definir</a:t>
            </a:r>
            <a:r>
              <a:rPr lang="en-US" b="1" dirty="0">
                <a:latin typeface="Google Sans"/>
                <a:ea typeface="+mn-lt"/>
                <a:cs typeface="+mn-lt"/>
              </a:rPr>
              <a:t> o </a:t>
            </a:r>
            <a:r>
              <a:rPr lang="en-US" b="1" dirty="0" err="1">
                <a:latin typeface="Google Sans"/>
                <a:ea typeface="+mn-lt"/>
                <a:cs typeface="+mn-lt"/>
              </a:rPr>
              <a:t>nombrar</a:t>
            </a:r>
            <a:r>
              <a:rPr lang="en-US" b="1" dirty="0">
                <a:latin typeface="Google Sans"/>
                <a:ea typeface="+mn-lt"/>
                <a:cs typeface="+mn-lt"/>
              </a:rPr>
              <a:t> variables</a:t>
            </a:r>
          </a:p>
          <a:p>
            <a:endParaRPr lang="en-US" b="1" dirty="0">
              <a:latin typeface="Google Sans"/>
              <a:ea typeface="+mn-lt"/>
              <a:cs typeface="+mn-lt"/>
            </a:endParaRPr>
          </a:p>
          <a:p>
            <a:r>
              <a:rPr lang="en-US" sz="1600" dirty="0" err="1">
                <a:ea typeface="+mn-lt"/>
                <a:cs typeface="+mn-lt"/>
              </a:rPr>
              <a:t>Estas</a:t>
            </a:r>
            <a:r>
              <a:rPr lang="en-US" sz="1600" dirty="0">
                <a:ea typeface="+mn-lt"/>
                <a:cs typeface="+mn-lt"/>
              </a:rPr>
              <a:t> </a:t>
            </a:r>
            <a:r>
              <a:rPr lang="en-US" sz="1600" dirty="0" err="1">
                <a:ea typeface="+mn-lt"/>
                <a:cs typeface="+mn-lt"/>
              </a:rPr>
              <a:t>deben</a:t>
            </a:r>
            <a:r>
              <a:rPr lang="en-US" sz="1600" dirty="0">
                <a:ea typeface="+mn-lt"/>
                <a:cs typeface="+mn-lt"/>
              </a:rPr>
              <a:t> </a:t>
            </a:r>
            <a:r>
              <a:rPr lang="en-US" sz="1600" dirty="0" err="1">
                <a:ea typeface="+mn-lt"/>
                <a:cs typeface="+mn-lt"/>
              </a:rPr>
              <a:t>comenzar</a:t>
            </a:r>
            <a:r>
              <a:rPr lang="en-US" sz="1600" dirty="0">
                <a:ea typeface="+mn-lt"/>
                <a:cs typeface="+mn-lt"/>
              </a:rPr>
              <a:t> solo </a:t>
            </a:r>
            <a:r>
              <a:rPr lang="en-US" sz="1600" dirty="0" err="1">
                <a:ea typeface="+mn-lt"/>
                <a:cs typeface="+mn-lt"/>
              </a:rPr>
              <a:t>por</a:t>
            </a:r>
            <a:r>
              <a:rPr lang="en-US" sz="1600" dirty="0">
                <a:ea typeface="+mn-lt"/>
                <a:cs typeface="+mn-lt"/>
              </a:rPr>
              <a:t> </a:t>
            </a:r>
            <a:r>
              <a:rPr lang="en-US" sz="1600" dirty="0" err="1">
                <a:ea typeface="+mn-lt"/>
                <a:cs typeface="+mn-lt"/>
              </a:rPr>
              <a:t>una</a:t>
            </a:r>
            <a:r>
              <a:rPr lang="en-US" sz="1600" dirty="0">
                <a:ea typeface="+mn-lt"/>
                <a:cs typeface="+mn-lt"/>
              </a:rPr>
              <a:t> </a:t>
            </a:r>
            <a:r>
              <a:rPr lang="en-US" sz="1600" dirty="0" err="1">
                <a:ea typeface="+mn-lt"/>
                <a:cs typeface="+mn-lt"/>
              </a:rPr>
              <a:t>letra</a:t>
            </a:r>
            <a:r>
              <a:rPr lang="en-US" sz="1600" dirty="0">
                <a:ea typeface="+mn-lt"/>
                <a:cs typeface="+mn-lt"/>
              </a:rPr>
              <a:t> </a:t>
            </a:r>
            <a:r>
              <a:rPr lang="en-US" sz="1600" dirty="0" err="1">
                <a:ea typeface="+mn-lt"/>
                <a:cs typeface="+mn-lt"/>
              </a:rPr>
              <a:t>mayuscula</a:t>
            </a:r>
            <a:r>
              <a:rPr lang="en-US" sz="1600" dirty="0">
                <a:ea typeface="+mn-lt"/>
                <a:cs typeface="+mn-lt"/>
              </a:rPr>
              <a:t> o </a:t>
            </a:r>
            <a:r>
              <a:rPr lang="en-US" sz="1600" dirty="0" err="1">
                <a:ea typeface="+mn-lt"/>
                <a:cs typeface="+mn-lt"/>
              </a:rPr>
              <a:t>minuscula</a:t>
            </a:r>
            <a:r>
              <a:rPr lang="en-US" sz="1600" dirty="0">
                <a:ea typeface="+mn-lt"/>
                <a:cs typeface="+mn-lt"/>
              </a:rPr>
              <a:t> </a:t>
            </a:r>
            <a:endParaRPr lang="en-US" sz="1600" dirty="0"/>
          </a:p>
          <a:p>
            <a:pPr algn="ctr"/>
            <a:endParaRPr lang="es-ES" dirty="0"/>
          </a:p>
        </p:txBody>
      </p:sp>
      <p:pic>
        <p:nvPicPr>
          <p:cNvPr id="6" name="Imagen 5" descr="Texto&#10;&#10;El contenido generado por IA puede ser incorrecto.">
            <a:extLst>
              <a:ext uri="{FF2B5EF4-FFF2-40B4-BE49-F238E27FC236}">
                <a16:creationId xmlns:a16="http://schemas.microsoft.com/office/drawing/2014/main" id="{D3AAA375-032C-E230-E460-1FC3E8DF5015}"/>
              </a:ext>
            </a:extLst>
          </p:cNvPr>
          <p:cNvPicPr>
            <a:picLocks noChangeAspect="1"/>
          </p:cNvPicPr>
          <p:nvPr/>
        </p:nvPicPr>
        <p:blipFill>
          <a:blip r:embed="rId3"/>
          <a:stretch>
            <a:fillRect/>
          </a:stretch>
        </p:blipFill>
        <p:spPr>
          <a:xfrm>
            <a:off x="6217785" y="4054248"/>
            <a:ext cx="5612947" cy="2559504"/>
          </a:xfrm>
          <a:prstGeom prst="rect">
            <a:avLst/>
          </a:prstGeom>
        </p:spPr>
      </p:pic>
      <p:sp>
        <p:nvSpPr>
          <p:cNvPr id="4" name="CuadroTexto 3">
            <a:extLst>
              <a:ext uri="{FF2B5EF4-FFF2-40B4-BE49-F238E27FC236}">
                <a16:creationId xmlns:a16="http://schemas.microsoft.com/office/drawing/2014/main" id="{D5E3AC89-EC9F-A4B9-C968-F03CAED8A8E0}"/>
              </a:ext>
            </a:extLst>
          </p:cNvPr>
          <p:cNvSpPr txBox="1"/>
          <p:nvPr/>
        </p:nvSpPr>
        <p:spPr>
          <a:xfrm>
            <a:off x="485773" y="3429001"/>
            <a:ext cx="548912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Calibri"/>
              <a:buChar char="-"/>
            </a:pPr>
            <a:r>
              <a:rPr lang="es-ES"/>
              <a:t>A1 , a1 </a:t>
            </a:r>
            <a:endParaRPr lang="es-ES" dirty="0"/>
          </a:p>
          <a:p>
            <a:pPr marL="285750" indent="-285750" algn="ctr">
              <a:buFont typeface="Calibri"/>
              <a:buChar char="-"/>
            </a:pPr>
            <a:r>
              <a:rPr lang="es-ES"/>
              <a:t>No 1f , @rt</a:t>
            </a:r>
            <a:endParaRPr lang="es-ES" dirty="0"/>
          </a:p>
        </p:txBody>
      </p:sp>
    </p:spTree>
    <p:extLst>
      <p:ext uri="{BB962C8B-B14F-4D97-AF65-F5344CB8AC3E}">
        <p14:creationId xmlns:p14="http://schemas.microsoft.com/office/powerpoint/2010/main" val="303827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0FA761-7FAD-22BF-8751-0D65050E061D}"/>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9F987B8C-B55C-40D8-A46A-5A132D061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85B79AA1-7D97-E881-8E61-66A064E7012E}"/>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0026FA1C-E83E-19A8-8182-B267A1E68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E41BDD7-F40B-9AF2-12DC-C5EA044B9643}"/>
              </a:ext>
            </a:extLst>
          </p:cNvPr>
          <p:cNvSpPr>
            <a:spLocks noGrp="1"/>
          </p:cNvSpPr>
          <p:nvPr>
            <p:ph type="ctrTitle"/>
          </p:nvPr>
        </p:nvSpPr>
        <p:spPr>
          <a:xfrm>
            <a:off x="3672938" y="344035"/>
            <a:ext cx="4132217" cy="1243344"/>
          </a:xfrm>
        </p:spPr>
        <p:txBody>
          <a:bodyPr anchor="b">
            <a:normAutofit fontScale="90000"/>
          </a:bodyPr>
          <a:lstStyle/>
          <a:p>
            <a:r>
              <a:rPr lang="es-ES" sz="4800"/>
              <a:t>Tipos Variables  </a:t>
            </a:r>
          </a:p>
        </p:txBody>
      </p:sp>
      <p:sp>
        <p:nvSpPr>
          <p:cNvPr id="13" name="Rectangle 12">
            <a:extLst>
              <a:ext uri="{FF2B5EF4-FFF2-40B4-BE49-F238E27FC236}">
                <a16:creationId xmlns:a16="http://schemas.microsoft.com/office/drawing/2014/main" id="{42F9CC08-A228-AFAE-1100-15F4C22DC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C57CCA8-8DEE-130D-3828-C1B3FE81CC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189765AE-B6C7-A705-D2A6-5330F80B0648}"/>
              </a:ext>
            </a:extLst>
          </p:cNvPr>
          <p:cNvSpPr txBox="1"/>
          <p:nvPr/>
        </p:nvSpPr>
        <p:spPr>
          <a:xfrm>
            <a:off x="257174" y="1426029"/>
            <a:ext cx="10975521"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latin typeface="Google Sans"/>
                <a:ea typeface="+mn-lt"/>
                <a:cs typeface="+mn-lt"/>
              </a:rPr>
              <a:t>Alfanumericas</a:t>
            </a:r>
            <a:endParaRPr lang="en-US" b="1">
              <a:latin typeface="Google Sans"/>
              <a:ea typeface="+mn-lt"/>
              <a:cs typeface="+mn-lt"/>
            </a:endParaRPr>
          </a:p>
          <a:p>
            <a:endParaRPr lang="en-US" b="1" dirty="0">
              <a:latin typeface="Google Sans"/>
              <a:ea typeface="+mn-lt"/>
              <a:cs typeface="+mn-lt"/>
            </a:endParaRPr>
          </a:p>
          <a:p>
            <a:r>
              <a:rPr lang="en-US" sz="1600" dirty="0">
                <a:ea typeface="+mn-lt"/>
                <a:cs typeface="+mn-lt"/>
              </a:rPr>
              <a:t>Una variable </a:t>
            </a:r>
            <a:r>
              <a:rPr lang="en-US" sz="1600" b="1" dirty="0" err="1">
                <a:ea typeface="+mn-lt"/>
                <a:cs typeface="+mn-lt"/>
              </a:rPr>
              <a:t>alfanumérica</a:t>
            </a:r>
            <a:r>
              <a:rPr lang="en-US" sz="1600" dirty="0">
                <a:ea typeface="+mn-lt"/>
                <a:cs typeface="+mn-lt"/>
              </a:rPr>
              <a:t> (</a:t>
            </a:r>
            <a:r>
              <a:rPr lang="en-US" sz="1600" dirty="0" err="1">
                <a:ea typeface="+mn-lt"/>
                <a:cs typeface="+mn-lt"/>
              </a:rPr>
              <a:t>comúnmente</a:t>
            </a:r>
            <a:r>
              <a:rPr lang="en-US" sz="1600" dirty="0">
                <a:ea typeface="+mn-lt"/>
                <a:cs typeface="+mn-lt"/>
              </a:rPr>
              <a:t> </a:t>
            </a:r>
            <a:r>
              <a:rPr lang="en-US" sz="1600" dirty="0" err="1">
                <a:ea typeface="+mn-lt"/>
                <a:cs typeface="+mn-lt"/>
              </a:rPr>
              <a:t>llamada</a:t>
            </a:r>
            <a:r>
              <a:rPr lang="en-US" sz="1600" dirty="0">
                <a:ea typeface="+mn-lt"/>
                <a:cs typeface="+mn-lt"/>
              </a:rPr>
              <a:t> </a:t>
            </a:r>
            <a:r>
              <a:rPr lang="en-US" sz="1600" b="1" dirty="0">
                <a:ea typeface="+mn-lt"/>
                <a:cs typeface="+mn-lt"/>
              </a:rPr>
              <a:t>String</a:t>
            </a:r>
            <a:r>
              <a:rPr lang="en-US" sz="1600" dirty="0">
                <a:ea typeface="+mn-lt"/>
                <a:cs typeface="+mn-lt"/>
              </a:rPr>
              <a:t> o </a:t>
            </a:r>
            <a:r>
              <a:rPr lang="en-US" sz="1600" dirty="0" err="1">
                <a:ea typeface="+mn-lt"/>
                <a:cs typeface="+mn-lt"/>
              </a:rPr>
              <a:t>cadena</a:t>
            </a:r>
            <a:r>
              <a:rPr lang="en-US" sz="1600" dirty="0">
                <a:ea typeface="+mn-lt"/>
                <a:cs typeface="+mn-lt"/>
              </a:rPr>
              <a:t> de </a:t>
            </a:r>
            <a:r>
              <a:rPr lang="en-US" sz="1600" dirty="0" err="1">
                <a:ea typeface="+mn-lt"/>
                <a:cs typeface="+mn-lt"/>
              </a:rPr>
              <a:t>texto</a:t>
            </a:r>
            <a:r>
              <a:rPr lang="en-US" sz="1600" dirty="0">
                <a:ea typeface="+mn-lt"/>
                <a:cs typeface="+mn-lt"/>
              </a:rPr>
              <a:t>) es </a:t>
            </a:r>
            <a:r>
              <a:rPr lang="en-US" sz="1600" dirty="0" err="1">
                <a:ea typeface="+mn-lt"/>
                <a:cs typeface="+mn-lt"/>
              </a:rPr>
              <a:t>aquella</a:t>
            </a:r>
            <a:r>
              <a:rPr lang="en-US" sz="1600" dirty="0">
                <a:ea typeface="+mn-lt"/>
                <a:cs typeface="+mn-lt"/>
              </a:rPr>
              <a:t> </a:t>
            </a:r>
            <a:r>
              <a:rPr lang="en-US" sz="1600" dirty="0" err="1">
                <a:ea typeface="+mn-lt"/>
                <a:cs typeface="+mn-lt"/>
              </a:rPr>
              <a:t>que</a:t>
            </a:r>
            <a:r>
              <a:rPr lang="en-US" sz="1600" dirty="0">
                <a:ea typeface="+mn-lt"/>
                <a:cs typeface="+mn-lt"/>
              </a:rPr>
              <a:t> </a:t>
            </a:r>
            <a:r>
              <a:rPr lang="en-US" sz="1600" dirty="0" err="1">
                <a:ea typeface="+mn-lt"/>
                <a:cs typeface="+mn-lt"/>
              </a:rPr>
              <a:t>puede</a:t>
            </a:r>
            <a:r>
              <a:rPr lang="en-US" sz="1600" dirty="0">
                <a:ea typeface="+mn-lt"/>
                <a:cs typeface="+mn-lt"/>
              </a:rPr>
              <a:t> </a:t>
            </a:r>
            <a:r>
              <a:rPr lang="en-US" sz="1600" dirty="0" err="1">
                <a:ea typeface="+mn-lt"/>
                <a:cs typeface="+mn-lt"/>
              </a:rPr>
              <a:t>contener</a:t>
            </a:r>
            <a:r>
              <a:rPr lang="en-US" sz="1600" dirty="0">
                <a:ea typeface="+mn-lt"/>
                <a:cs typeface="+mn-lt"/>
              </a:rPr>
              <a:t> </a:t>
            </a:r>
            <a:r>
              <a:rPr lang="en-US" sz="1600" dirty="0" err="1">
                <a:ea typeface="+mn-lt"/>
                <a:cs typeface="+mn-lt"/>
              </a:rPr>
              <a:t>una</a:t>
            </a:r>
            <a:r>
              <a:rPr lang="en-US" sz="1600" dirty="0">
                <a:ea typeface="+mn-lt"/>
                <a:cs typeface="+mn-lt"/>
              </a:rPr>
              <a:t> </a:t>
            </a:r>
            <a:r>
              <a:rPr lang="en-US" sz="1600" dirty="0" err="1">
                <a:ea typeface="+mn-lt"/>
                <a:cs typeface="+mn-lt"/>
              </a:rPr>
              <a:t>mezcla</a:t>
            </a:r>
            <a:r>
              <a:rPr lang="en-US" sz="1600" dirty="0">
                <a:ea typeface="+mn-lt"/>
                <a:cs typeface="+mn-lt"/>
              </a:rPr>
              <a:t> de </a:t>
            </a:r>
            <a:r>
              <a:rPr lang="en-US" sz="1600" dirty="0" err="1">
                <a:ea typeface="+mn-lt"/>
                <a:cs typeface="+mn-lt"/>
              </a:rPr>
              <a:t>letras</a:t>
            </a:r>
            <a:r>
              <a:rPr lang="en-US" sz="1600" dirty="0">
                <a:ea typeface="+mn-lt"/>
                <a:cs typeface="+mn-lt"/>
              </a:rPr>
              <a:t>, </a:t>
            </a:r>
            <a:r>
              <a:rPr lang="en-US" sz="1600" dirty="0" err="1">
                <a:ea typeface="+mn-lt"/>
                <a:cs typeface="+mn-lt"/>
              </a:rPr>
              <a:t>números</a:t>
            </a:r>
            <a:r>
              <a:rPr lang="en-US" sz="1600" dirty="0">
                <a:ea typeface="+mn-lt"/>
                <a:cs typeface="+mn-lt"/>
              </a:rPr>
              <a:t> y </a:t>
            </a:r>
            <a:r>
              <a:rPr lang="en-US" sz="1600" dirty="0" err="1">
                <a:ea typeface="+mn-lt"/>
                <a:cs typeface="+mn-lt"/>
              </a:rPr>
              <a:t>símbolos</a:t>
            </a:r>
            <a:r>
              <a:rPr lang="en-US" sz="1600" dirty="0">
                <a:ea typeface="+mn-lt"/>
                <a:cs typeface="+mn-lt"/>
              </a:rPr>
              <a:t>.</a:t>
            </a:r>
            <a:endParaRPr lang="en-US" sz="1600" dirty="0"/>
          </a:p>
          <a:p>
            <a:r>
              <a:rPr lang="en-US" sz="1600" dirty="0" err="1">
                <a:ea typeface="+mn-lt"/>
                <a:cs typeface="+mn-lt"/>
              </a:rPr>
              <a:t>Aquí</a:t>
            </a:r>
            <a:r>
              <a:rPr lang="en-US" sz="1600" dirty="0">
                <a:ea typeface="+mn-lt"/>
                <a:cs typeface="+mn-lt"/>
              </a:rPr>
              <a:t> lo </a:t>
            </a:r>
            <a:r>
              <a:rPr lang="en-US" sz="1600" dirty="0" err="1">
                <a:ea typeface="+mn-lt"/>
                <a:cs typeface="+mn-lt"/>
              </a:rPr>
              <a:t>que</a:t>
            </a:r>
            <a:r>
              <a:rPr lang="en-US" sz="1600" dirty="0">
                <a:ea typeface="+mn-lt"/>
                <a:cs typeface="+mn-lt"/>
              </a:rPr>
              <a:t> </a:t>
            </a:r>
            <a:r>
              <a:rPr lang="en-US" sz="1600" dirty="0" err="1">
                <a:ea typeface="+mn-lt"/>
                <a:cs typeface="+mn-lt"/>
              </a:rPr>
              <a:t>debes</a:t>
            </a:r>
            <a:r>
              <a:rPr lang="en-US" sz="1600" dirty="0">
                <a:ea typeface="+mn-lt"/>
                <a:cs typeface="+mn-lt"/>
              </a:rPr>
              <a:t> saber:</a:t>
            </a:r>
            <a:endParaRPr lang="en-US" sz="1600" dirty="0"/>
          </a:p>
          <a:p>
            <a:pPr marL="285750" indent="-285750">
              <a:buFont typeface="Arial"/>
              <a:buChar char="•"/>
            </a:pPr>
            <a:r>
              <a:rPr lang="en-US" sz="1600" b="1" dirty="0">
                <a:ea typeface="+mn-lt"/>
                <a:cs typeface="+mn-lt"/>
              </a:rPr>
              <a:t>¿</a:t>
            </a:r>
            <a:r>
              <a:rPr lang="en-US" sz="1600" b="1" dirty="0" err="1">
                <a:ea typeface="+mn-lt"/>
                <a:cs typeface="+mn-lt"/>
              </a:rPr>
              <a:t>Qué</a:t>
            </a:r>
            <a:r>
              <a:rPr lang="en-US" sz="1600" b="1" dirty="0">
                <a:ea typeface="+mn-lt"/>
                <a:cs typeface="+mn-lt"/>
              </a:rPr>
              <a:t> </a:t>
            </a:r>
            <a:r>
              <a:rPr lang="en-US" sz="1600" b="1" dirty="0" err="1">
                <a:ea typeface="+mn-lt"/>
                <a:cs typeface="+mn-lt"/>
              </a:rPr>
              <a:t>admite</a:t>
            </a:r>
            <a:r>
              <a:rPr lang="en-US" sz="1600" b="1" dirty="0">
                <a:ea typeface="+mn-lt"/>
                <a:cs typeface="+mn-lt"/>
              </a:rPr>
              <a:t>?:</a:t>
            </a:r>
            <a:r>
              <a:rPr lang="en-US" sz="1600" dirty="0">
                <a:ea typeface="+mn-lt"/>
                <a:cs typeface="+mn-lt"/>
              </a:rPr>
              <a:t> Letras (a-z), </a:t>
            </a:r>
            <a:r>
              <a:rPr lang="en-US" sz="1600" dirty="0" err="1">
                <a:ea typeface="+mn-lt"/>
                <a:cs typeface="+mn-lt"/>
              </a:rPr>
              <a:t>números</a:t>
            </a:r>
            <a:r>
              <a:rPr lang="en-US" sz="1600" dirty="0">
                <a:ea typeface="+mn-lt"/>
                <a:cs typeface="+mn-lt"/>
              </a:rPr>
              <a:t> (0-9), </a:t>
            </a:r>
            <a:r>
              <a:rPr lang="en-US" sz="1600" dirty="0" err="1">
                <a:ea typeface="+mn-lt"/>
                <a:cs typeface="+mn-lt"/>
              </a:rPr>
              <a:t>espacios</a:t>
            </a:r>
            <a:r>
              <a:rPr lang="en-US" sz="1600" dirty="0">
                <a:ea typeface="+mn-lt"/>
                <a:cs typeface="+mn-lt"/>
              </a:rPr>
              <a:t>, puntos, comas y </a:t>
            </a:r>
            <a:r>
              <a:rPr lang="en-US" sz="1600" dirty="0" err="1">
                <a:ea typeface="+mn-lt"/>
                <a:cs typeface="+mn-lt"/>
              </a:rPr>
              <a:t>caracteres</a:t>
            </a:r>
            <a:r>
              <a:rPr lang="en-US" sz="1600" dirty="0">
                <a:ea typeface="+mn-lt"/>
                <a:cs typeface="+mn-lt"/>
              </a:rPr>
              <a:t> </a:t>
            </a:r>
            <a:r>
              <a:rPr lang="en-US" sz="1600" dirty="0" err="1">
                <a:ea typeface="+mn-lt"/>
                <a:cs typeface="+mn-lt"/>
              </a:rPr>
              <a:t>especiales</a:t>
            </a:r>
            <a:r>
              <a:rPr lang="en-US" sz="1600" dirty="0">
                <a:ea typeface="+mn-lt"/>
                <a:cs typeface="+mn-lt"/>
              </a:rPr>
              <a:t> (@, #, $, etc.).</a:t>
            </a:r>
            <a:endParaRPr lang="en-US" sz="1600" dirty="0"/>
          </a:p>
          <a:p>
            <a:pPr marL="285750" indent="-285750">
              <a:buFont typeface="Arial"/>
              <a:buChar char="•"/>
            </a:pPr>
            <a:endParaRPr lang="en-US" sz="1600" dirty="0"/>
          </a:p>
          <a:p>
            <a:pPr marL="285750" indent="-285750">
              <a:buFont typeface="Arial"/>
              <a:buChar char="•"/>
            </a:pPr>
            <a:r>
              <a:rPr lang="en-US" sz="1600" b="1" dirty="0">
                <a:ea typeface="+mn-lt"/>
                <a:cs typeface="+mn-lt"/>
              </a:rPr>
              <a:t>La </a:t>
            </a:r>
            <a:r>
              <a:rPr lang="en-US" sz="1600" b="1" dirty="0" err="1">
                <a:ea typeface="+mn-lt"/>
                <a:cs typeface="+mn-lt"/>
              </a:rPr>
              <a:t>regla</a:t>
            </a:r>
            <a:r>
              <a:rPr lang="en-US" sz="1600" b="1" dirty="0">
                <a:ea typeface="+mn-lt"/>
                <a:cs typeface="+mn-lt"/>
              </a:rPr>
              <a:t> de </a:t>
            </a:r>
            <a:r>
              <a:rPr lang="en-US" sz="1600" b="1" dirty="0" err="1">
                <a:ea typeface="+mn-lt"/>
                <a:cs typeface="+mn-lt"/>
              </a:rPr>
              <a:t>oro</a:t>
            </a:r>
            <a:r>
              <a:rPr lang="en-US" sz="1600" b="1" dirty="0">
                <a:ea typeface="+mn-lt"/>
                <a:cs typeface="+mn-lt"/>
              </a:rPr>
              <a:t>:</a:t>
            </a:r>
            <a:r>
              <a:rPr lang="en-US" sz="1600" dirty="0">
                <a:ea typeface="+mn-lt"/>
                <a:cs typeface="+mn-lt"/>
              </a:rPr>
              <a:t> </a:t>
            </a:r>
            <a:r>
              <a:rPr lang="en-US" sz="1600" dirty="0" err="1">
                <a:ea typeface="+mn-lt"/>
                <a:cs typeface="+mn-lt"/>
              </a:rPr>
              <a:t>Aunque</a:t>
            </a:r>
            <a:r>
              <a:rPr lang="en-US" sz="1600" dirty="0">
                <a:ea typeface="+mn-lt"/>
                <a:cs typeface="+mn-lt"/>
              </a:rPr>
              <a:t> </a:t>
            </a:r>
            <a:r>
              <a:rPr lang="en-US" sz="1600" dirty="0" err="1">
                <a:ea typeface="+mn-lt"/>
                <a:cs typeface="+mn-lt"/>
              </a:rPr>
              <a:t>contenga</a:t>
            </a:r>
            <a:r>
              <a:rPr lang="en-US" sz="1600" dirty="0">
                <a:ea typeface="+mn-lt"/>
                <a:cs typeface="+mn-lt"/>
              </a:rPr>
              <a:t> </a:t>
            </a:r>
            <a:r>
              <a:rPr lang="en-US" sz="1600" dirty="0" err="1">
                <a:ea typeface="+mn-lt"/>
                <a:cs typeface="+mn-lt"/>
              </a:rPr>
              <a:t>números</a:t>
            </a:r>
            <a:r>
              <a:rPr lang="en-US" sz="1600" dirty="0">
                <a:ea typeface="+mn-lt"/>
                <a:cs typeface="+mn-lt"/>
              </a:rPr>
              <a:t>, </a:t>
            </a:r>
            <a:r>
              <a:rPr lang="en-US" sz="1600" dirty="0" err="1">
                <a:ea typeface="+mn-lt"/>
                <a:cs typeface="+mn-lt"/>
              </a:rPr>
              <a:t>el</a:t>
            </a:r>
            <a:r>
              <a:rPr lang="en-US" sz="1600" dirty="0">
                <a:ea typeface="+mn-lt"/>
                <a:cs typeface="+mn-lt"/>
              </a:rPr>
              <a:t> </a:t>
            </a:r>
            <a:r>
              <a:rPr lang="en-US" sz="1600" dirty="0" err="1">
                <a:ea typeface="+mn-lt"/>
                <a:cs typeface="+mn-lt"/>
              </a:rPr>
              <a:t>sistema</a:t>
            </a:r>
            <a:r>
              <a:rPr lang="en-US" sz="1600" dirty="0">
                <a:ea typeface="+mn-lt"/>
                <a:cs typeface="+mn-lt"/>
              </a:rPr>
              <a:t> </a:t>
            </a:r>
            <a:r>
              <a:rPr lang="en-US" sz="1600" dirty="0" err="1">
                <a:ea typeface="+mn-lt"/>
                <a:cs typeface="+mn-lt"/>
              </a:rPr>
              <a:t>los</a:t>
            </a:r>
            <a:r>
              <a:rPr lang="en-US" sz="1600" dirty="0">
                <a:ea typeface="+mn-lt"/>
                <a:cs typeface="+mn-lt"/>
              </a:rPr>
              <a:t> </a:t>
            </a:r>
            <a:r>
              <a:rPr lang="en-US" sz="1600" dirty="0" err="1">
                <a:ea typeface="+mn-lt"/>
                <a:cs typeface="+mn-lt"/>
              </a:rPr>
              <a:t>trata</a:t>
            </a:r>
            <a:r>
              <a:rPr lang="en-US" sz="1600" dirty="0">
                <a:ea typeface="+mn-lt"/>
                <a:cs typeface="+mn-lt"/>
              </a:rPr>
              <a:t> </a:t>
            </a:r>
            <a:r>
              <a:rPr lang="en-US" sz="1600" dirty="0" err="1">
                <a:ea typeface="+mn-lt"/>
                <a:cs typeface="+mn-lt"/>
              </a:rPr>
              <a:t>como</a:t>
            </a:r>
            <a:r>
              <a:rPr lang="en-US" sz="1600" dirty="0">
                <a:ea typeface="+mn-lt"/>
                <a:cs typeface="+mn-lt"/>
              </a:rPr>
              <a:t> </a:t>
            </a:r>
            <a:r>
              <a:rPr lang="en-US" sz="1600" b="1" dirty="0" err="1">
                <a:ea typeface="+mn-lt"/>
                <a:cs typeface="+mn-lt"/>
              </a:rPr>
              <a:t>texto</a:t>
            </a:r>
            <a:r>
              <a:rPr lang="en-US" sz="1600" dirty="0">
                <a:ea typeface="+mn-lt"/>
                <a:cs typeface="+mn-lt"/>
              </a:rPr>
              <a:t>, no </a:t>
            </a:r>
            <a:r>
              <a:rPr lang="en-US" sz="1600" dirty="0" err="1">
                <a:ea typeface="+mn-lt"/>
                <a:cs typeface="+mn-lt"/>
              </a:rPr>
              <a:t>como</a:t>
            </a:r>
            <a:r>
              <a:rPr lang="en-US" sz="1600" dirty="0">
                <a:ea typeface="+mn-lt"/>
                <a:cs typeface="+mn-lt"/>
              </a:rPr>
              <a:t> </a:t>
            </a:r>
            <a:r>
              <a:rPr lang="en-US" sz="1600" dirty="0" err="1">
                <a:ea typeface="+mn-lt"/>
                <a:cs typeface="+mn-lt"/>
              </a:rPr>
              <a:t>valores</a:t>
            </a:r>
            <a:r>
              <a:rPr lang="en-US" sz="1600" dirty="0">
                <a:ea typeface="+mn-lt"/>
                <a:cs typeface="+mn-lt"/>
              </a:rPr>
              <a:t> </a:t>
            </a:r>
            <a:r>
              <a:rPr lang="en-US" sz="1600" dirty="0" err="1">
                <a:ea typeface="+mn-lt"/>
                <a:cs typeface="+mn-lt"/>
              </a:rPr>
              <a:t>matemáticos</a:t>
            </a:r>
            <a:r>
              <a:rPr lang="en-US" sz="1600" dirty="0">
                <a:ea typeface="+mn-lt"/>
                <a:cs typeface="+mn-lt"/>
              </a:rPr>
              <a:t>. No </a:t>
            </a:r>
            <a:r>
              <a:rPr lang="en-US" sz="1600" dirty="0" err="1">
                <a:ea typeface="+mn-lt"/>
                <a:cs typeface="+mn-lt"/>
              </a:rPr>
              <a:t>puedes</a:t>
            </a:r>
            <a:r>
              <a:rPr lang="en-US" sz="1600" dirty="0">
                <a:ea typeface="+mn-lt"/>
                <a:cs typeface="+mn-lt"/>
              </a:rPr>
              <a:t> </a:t>
            </a:r>
            <a:r>
              <a:rPr lang="en-US" sz="1600" dirty="0" err="1">
                <a:ea typeface="+mn-lt"/>
                <a:cs typeface="+mn-lt"/>
              </a:rPr>
              <a:t>sumar</a:t>
            </a:r>
            <a:r>
              <a:rPr lang="en-US" sz="1600" dirty="0">
                <a:ea typeface="+mn-lt"/>
                <a:cs typeface="+mn-lt"/>
              </a:rPr>
              <a:t> </a:t>
            </a:r>
            <a:r>
              <a:rPr lang="en-US" sz="1600" dirty="0" err="1">
                <a:ea typeface="+mn-lt"/>
                <a:cs typeface="+mn-lt"/>
              </a:rPr>
              <a:t>una</a:t>
            </a:r>
            <a:r>
              <a:rPr lang="en-US" sz="1600" dirty="0">
                <a:ea typeface="+mn-lt"/>
                <a:cs typeface="+mn-lt"/>
              </a:rPr>
              <a:t> variable </a:t>
            </a:r>
            <a:r>
              <a:rPr lang="en-US" sz="1600" dirty="0" err="1">
                <a:ea typeface="+mn-lt"/>
                <a:cs typeface="+mn-lt"/>
              </a:rPr>
              <a:t>alfanumérica</a:t>
            </a:r>
            <a:r>
              <a:rPr lang="en-US" sz="1600" dirty="0">
                <a:ea typeface="+mn-lt"/>
                <a:cs typeface="+mn-lt"/>
              </a:rPr>
              <a:t> de "20" con </a:t>
            </a:r>
            <a:r>
              <a:rPr lang="en-US" sz="1600" dirty="0" err="1">
                <a:ea typeface="+mn-lt"/>
                <a:cs typeface="+mn-lt"/>
              </a:rPr>
              <a:t>otra</a:t>
            </a:r>
            <a:r>
              <a:rPr lang="en-US" sz="1600" dirty="0">
                <a:ea typeface="+mn-lt"/>
                <a:cs typeface="+mn-lt"/>
              </a:rPr>
              <a:t> de "10" (</a:t>
            </a:r>
            <a:r>
              <a:rPr lang="en-US" sz="1600" dirty="0" err="1">
                <a:ea typeface="+mn-lt"/>
                <a:cs typeface="+mn-lt"/>
              </a:rPr>
              <a:t>el</a:t>
            </a:r>
            <a:r>
              <a:rPr lang="en-US" sz="1600" dirty="0">
                <a:ea typeface="+mn-lt"/>
                <a:cs typeface="+mn-lt"/>
              </a:rPr>
              <a:t> </a:t>
            </a:r>
            <a:r>
              <a:rPr lang="en-US" sz="1600" dirty="0" err="1">
                <a:ea typeface="+mn-lt"/>
                <a:cs typeface="+mn-lt"/>
              </a:rPr>
              <a:t>resultado</a:t>
            </a:r>
            <a:r>
              <a:rPr lang="en-US" sz="1600" dirty="0">
                <a:ea typeface="+mn-lt"/>
                <a:cs typeface="+mn-lt"/>
              </a:rPr>
              <a:t> </a:t>
            </a:r>
            <a:r>
              <a:rPr lang="en-US" sz="1600" dirty="0" err="1">
                <a:ea typeface="+mn-lt"/>
                <a:cs typeface="+mn-lt"/>
              </a:rPr>
              <a:t>sería</a:t>
            </a:r>
            <a:r>
              <a:rPr lang="en-US" sz="1600" dirty="0">
                <a:ea typeface="+mn-lt"/>
                <a:cs typeface="+mn-lt"/>
              </a:rPr>
              <a:t> "2010", no 30).</a:t>
            </a:r>
            <a:endParaRPr lang="en-US" sz="1600" dirty="0"/>
          </a:p>
          <a:p>
            <a:pPr marL="285750" indent="-285750">
              <a:buFont typeface="Arial"/>
              <a:buChar char="•"/>
            </a:pPr>
            <a:endParaRPr lang="en-US" sz="1600" dirty="0"/>
          </a:p>
          <a:p>
            <a:pPr marL="285750" indent="-285750">
              <a:buFont typeface="Arial"/>
              <a:buChar char="•"/>
            </a:pPr>
            <a:r>
              <a:rPr lang="en-US" sz="1600" b="1" dirty="0" err="1">
                <a:ea typeface="+mn-lt"/>
                <a:cs typeface="+mn-lt"/>
              </a:rPr>
              <a:t>Cómo</a:t>
            </a:r>
            <a:r>
              <a:rPr lang="en-US" sz="1600" b="1" dirty="0">
                <a:ea typeface="+mn-lt"/>
                <a:cs typeface="+mn-lt"/>
              </a:rPr>
              <a:t> se </a:t>
            </a:r>
            <a:r>
              <a:rPr lang="en-US" sz="1600" b="1" dirty="0" err="1">
                <a:ea typeface="+mn-lt"/>
                <a:cs typeface="+mn-lt"/>
              </a:rPr>
              <a:t>identifica</a:t>
            </a:r>
            <a:r>
              <a:rPr lang="en-US" sz="1600" b="1" dirty="0">
                <a:ea typeface="+mn-lt"/>
                <a:cs typeface="+mn-lt"/>
              </a:rPr>
              <a:t>:</a:t>
            </a:r>
            <a:r>
              <a:rPr lang="en-US" sz="1600" dirty="0">
                <a:ea typeface="+mn-lt"/>
                <a:cs typeface="+mn-lt"/>
              </a:rPr>
              <a:t> Casi </a:t>
            </a:r>
            <a:r>
              <a:rPr lang="en-US" sz="1600" dirty="0" err="1">
                <a:ea typeface="+mn-lt"/>
                <a:cs typeface="+mn-lt"/>
              </a:rPr>
              <a:t>siempre</a:t>
            </a:r>
            <a:r>
              <a:rPr lang="en-US" sz="1600" dirty="0">
                <a:ea typeface="+mn-lt"/>
                <a:cs typeface="+mn-lt"/>
              </a:rPr>
              <a:t> van </a:t>
            </a:r>
            <a:r>
              <a:rPr lang="en-US" sz="1600" dirty="0" err="1">
                <a:ea typeface="+mn-lt"/>
                <a:cs typeface="+mn-lt"/>
              </a:rPr>
              <a:t>encerradas</a:t>
            </a:r>
            <a:r>
              <a:rPr lang="en-US" sz="1600" dirty="0">
                <a:ea typeface="+mn-lt"/>
                <a:cs typeface="+mn-lt"/>
              </a:rPr>
              <a:t> entre </a:t>
            </a:r>
            <a:r>
              <a:rPr lang="en-US" sz="1600" b="1" dirty="0" err="1">
                <a:ea typeface="+mn-lt"/>
                <a:cs typeface="+mn-lt"/>
              </a:rPr>
              <a:t>comillas</a:t>
            </a:r>
            <a:r>
              <a:rPr lang="en-US" sz="1600" dirty="0">
                <a:ea typeface="+mn-lt"/>
                <a:cs typeface="+mn-lt"/>
              </a:rPr>
              <a:t> (</a:t>
            </a:r>
            <a:r>
              <a:rPr lang="en-US" sz="1400" dirty="0">
                <a:latin typeface="monospace"/>
              </a:rPr>
              <a:t>" "</a:t>
            </a:r>
            <a:r>
              <a:rPr lang="en-US" sz="1600" dirty="0">
                <a:ea typeface="+mn-lt"/>
                <a:cs typeface="+mn-lt"/>
              </a:rPr>
              <a:t> o </a:t>
            </a:r>
            <a:r>
              <a:rPr lang="en-US" sz="1400" dirty="0">
                <a:latin typeface="monospace"/>
              </a:rPr>
              <a:t>' '</a:t>
            </a:r>
            <a:r>
              <a:rPr lang="en-US" sz="1600" dirty="0">
                <a:ea typeface="+mn-lt"/>
                <a:cs typeface="+mn-lt"/>
              </a:rPr>
              <a:t>).</a:t>
            </a:r>
            <a:endParaRPr lang="en-US" sz="1600" dirty="0"/>
          </a:p>
          <a:p>
            <a:pPr marL="285750" indent="-285750">
              <a:buFont typeface="Arial"/>
              <a:buChar char="•"/>
            </a:pPr>
            <a:endParaRPr lang="en-US" sz="1200" dirty="0"/>
          </a:p>
          <a:p>
            <a:pPr marL="285750" indent="-285750">
              <a:buFont typeface="Arial"/>
              <a:buChar char="•"/>
            </a:pPr>
            <a:endParaRPr lang="en-US" sz="1200" dirty="0"/>
          </a:p>
          <a:p>
            <a:endParaRPr lang="en-US" sz="1600" dirty="0"/>
          </a:p>
          <a:p>
            <a:pPr algn="ctr"/>
            <a:endParaRPr lang="es-ES" dirty="0"/>
          </a:p>
        </p:txBody>
      </p:sp>
      <p:sp>
        <p:nvSpPr>
          <p:cNvPr id="4" name="CuadroTexto 3">
            <a:extLst>
              <a:ext uri="{FF2B5EF4-FFF2-40B4-BE49-F238E27FC236}">
                <a16:creationId xmlns:a16="http://schemas.microsoft.com/office/drawing/2014/main" id="{0D0EA64F-9D88-0AED-406D-5EB804CDF83D}"/>
              </a:ext>
            </a:extLst>
          </p:cNvPr>
          <p:cNvSpPr txBox="1"/>
          <p:nvPr/>
        </p:nvSpPr>
        <p:spPr>
          <a:xfrm>
            <a:off x="1519916" y="4343401"/>
            <a:ext cx="548912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Calibri"/>
              <a:buChar char="-"/>
            </a:pPr>
            <a:r>
              <a:rPr lang="es-ES"/>
              <a:t>A1 , a1 </a:t>
            </a:r>
            <a:endParaRPr lang="es-ES" dirty="0"/>
          </a:p>
          <a:p>
            <a:pPr marL="285750" indent="-285750" algn="ctr">
              <a:buFont typeface="Calibri"/>
              <a:buChar char="-"/>
            </a:pPr>
            <a:r>
              <a:rPr lang="es-ES"/>
              <a:t>No 1f , @rt</a:t>
            </a:r>
            <a:endParaRPr lang="es-ES" dirty="0"/>
          </a:p>
        </p:txBody>
      </p:sp>
      <p:pic>
        <p:nvPicPr>
          <p:cNvPr id="5" name="Imagen 4" descr="Texto&#10;&#10;El contenido generado por IA puede ser incorrecto.">
            <a:extLst>
              <a:ext uri="{FF2B5EF4-FFF2-40B4-BE49-F238E27FC236}">
                <a16:creationId xmlns:a16="http://schemas.microsoft.com/office/drawing/2014/main" id="{63F557E3-240F-E07F-4B5A-52E86DB9DD1B}"/>
              </a:ext>
            </a:extLst>
          </p:cNvPr>
          <p:cNvPicPr>
            <a:picLocks noChangeAspect="1"/>
          </p:cNvPicPr>
          <p:nvPr/>
        </p:nvPicPr>
        <p:blipFill>
          <a:blip r:embed="rId3"/>
          <a:stretch>
            <a:fillRect/>
          </a:stretch>
        </p:blipFill>
        <p:spPr>
          <a:xfrm>
            <a:off x="2862263" y="4346120"/>
            <a:ext cx="7153275" cy="2280558"/>
          </a:xfrm>
          <a:prstGeom prst="rect">
            <a:avLst/>
          </a:prstGeom>
        </p:spPr>
      </p:pic>
    </p:spTree>
    <p:extLst>
      <p:ext uri="{BB962C8B-B14F-4D97-AF65-F5344CB8AC3E}">
        <p14:creationId xmlns:p14="http://schemas.microsoft.com/office/powerpoint/2010/main" val="2143206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116935-7905-2AB2-7027-F4AA1B2CABCD}"/>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82CD8881-2C5F-84F2-B1B5-1814ACAEA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a:extLst>
              <a:ext uri="{FF2B5EF4-FFF2-40B4-BE49-F238E27FC236}">
                <a16:creationId xmlns:a16="http://schemas.microsoft.com/office/drawing/2014/main" id="{1EDFAF16-FB6C-3D6B-EFC4-FF03ADA9D5C7}"/>
              </a:ext>
            </a:extLst>
          </p:cNvPr>
          <p:cNvPicPr>
            <a:picLocks noChangeAspect="1"/>
          </p:cNvPicPr>
          <p:nvPr/>
        </p:nvPicPr>
        <p:blipFill>
          <a:blip r:embed="rId2"/>
          <a:srcRect r="5203" b="4"/>
          <a:stretch>
            <a:fillRect/>
          </a:stretch>
        </p:blipFill>
        <p:spPr>
          <a:xfrm>
            <a:off x="3571113" y="10"/>
            <a:ext cx="8697087" cy="6943715"/>
          </a:xfrm>
          <a:prstGeom prst="rect">
            <a:avLst/>
          </a:prstGeom>
        </p:spPr>
      </p:pic>
      <p:sp>
        <p:nvSpPr>
          <p:cNvPr id="17" name="Rectangle 10">
            <a:extLst>
              <a:ext uri="{FF2B5EF4-FFF2-40B4-BE49-F238E27FC236}">
                <a16:creationId xmlns:a16="http://schemas.microsoft.com/office/drawing/2014/main" id="{7AD6094C-15E7-1C97-C55E-E461175762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5F66A02-2C19-F7E5-63C5-D44F6AD3AF56}"/>
              </a:ext>
            </a:extLst>
          </p:cNvPr>
          <p:cNvSpPr>
            <a:spLocks noGrp="1"/>
          </p:cNvSpPr>
          <p:nvPr>
            <p:ph type="ctrTitle"/>
          </p:nvPr>
        </p:nvSpPr>
        <p:spPr>
          <a:xfrm>
            <a:off x="4032167" y="246064"/>
            <a:ext cx="4132217" cy="1243344"/>
          </a:xfrm>
        </p:spPr>
        <p:txBody>
          <a:bodyPr anchor="b">
            <a:normAutofit fontScale="90000"/>
          </a:bodyPr>
          <a:lstStyle/>
          <a:p>
            <a:r>
              <a:rPr lang="es-ES" sz="4900"/>
              <a:t>Numéricas</a:t>
            </a:r>
            <a:br>
              <a:rPr lang="es-ES" sz="4800" dirty="0"/>
            </a:br>
            <a:r>
              <a:rPr lang="es-ES" sz="4800" dirty="0"/>
              <a:t> </a:t>
            </a:r>
          </a:p>
        </p:txBody>
      </p:sp>
      <p:sp>
        <p:nvSpPr>
          <p:cNvPr id="13" name="Rectangle 12">
            <a:extLst>
              <a:ext uri="{FF2B5EF4-FFF2-40B4-BE49-F238E27FC236}">
                <a16:creationId xmlns:a16="http://schemas.microsoft.com/office/drawing/2014/main" id="{C03E1E84-5840-903A-2128-2A7EEB1B9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E3577559-97AA-8F9D-6EA7-53408693BA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A053E26E-92AC-9C62-630B-B9F95DDC3293}"/>
              </a:ext>
            </a:extLst>
          </p:cNvPr>
          <p:cNvSpPr txBox="1"/>
          <p:nvPr/>
        </p:nvSpPr>
        <p:spPr>
          <a:xfrm>
            <a:off x="2085975" y="1088572"/>
            <a:ext cx="766626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Google Sans"/>
                <a:ea typeface="+mn-lt"/>
                <a:cs typeface="+mn-lt"/>
              </a:rPr>
              <a:t>Son variables </a:t>
            </a:r>
            <a:r>
              <a:rPr lang="en-US" b="1" dirty="0" err="1">
                <a:latin typeface="Google Sans"/>
                <a:ea typeface="+mn-lt"/>
                <a:cs typeface="+mn-lt"/>
              </a:rPr>
              <a:t>que</a:t>
            </a:r>
            <a:r>
              <a:rPr lang="en-US" b="1" dirty="0">
                <a:latin typeface="Google Sans"/>
                <a:ea typeface="+mn-lt"/>
                <a:cs typeface="+mn-lt"/>
              </a:rPr>
              <a:t> </a:t>
            </a:r>
            <a:r>
              <a:rPr lang="en-US" b="1" dirty="0" err="1">
                <a:latin typeface="Google Sans"/>
                <a:ea typeface="+mn-lt"/>
                <a:cs typeface="+mn-lt"/>
              </a:rPr>
              <a:t>reciben</a:t>
            </a:r>
            <a:r>
              <a:rPr lang="en-US" b="1" dirty="0">
                <a:latin typeface="Google Sans"/>
                <a:ea typeface="+mn-lt"/>
                <a:cs typeface="+mn-lt"/>
              </a:rPr>
              <a:t> solo </a:t>
            </a:r>
            <a:r>
              <a:rPr lang="en-US" b="1" dirty="0" err="1">
                <a:latin typeface="Google Sans"/>
                <a:ea typeface="+mn-lt"/>
                <a:cs typeface="+mn-lt"/>
              </a:rPr>
              <a:t>numeros</a:t>
            </a:r>
            <a:r>
              <a:rPr lang="en-US" b="1" dirty="0">
                <a:latin typeface="Google Sans"/>
                <a:ea typeface="+mn-lt"/>
                <a:cs typeface="+mn-lt"/>
              </a:rPr>
              <a:t> </a:t>
            </a:r>
            <a:r>
              <a:rPr lang="en-US" b="1" dirty="0" err="1">
                <a:latin typeface="Google Sans"/>
                <a:ea typeface="+mn-lt"/>
                <a:cs typeface="+mn-lt"/>
              </a:rPr>
              <a:t>positivos</a:t>
            </a:r>
            <a:r>
              <a:rPr lang="en-US" b="1" dirty="0">
                <a:latin typeface="Google Sans"/>
                <a:ea typeface="+mn-lt"/>
                <a:cs typeface="+mn-lt"/>
              </a:rPr>
              <a:t> o </a:t>
            </a:r>
            <a:r>
              <a:rPr lang="en-US" b="1" dirty="0" err="1">
                <a:latin typeface="Google Sans"/>
                <a:ea typeface="+mn-lt"/>
                <a:cs typeface="+mn-lt"/>
              </a:rPr>
              <a:t>negativos</a:t>
            </a:r>
            <a:r>
              <a:rPr lang="en-US" b="1" dirty="0">
                <a:latin typeface="Google Sans"/>
                <a:ea typeface="+mn-lt"/>
                <a:cs typeface="+mn-lt"/>
              </a:rPr>
              <a:t> </a:t>
            </a:r>
            <a:endParaRPr lang="en-US" b="1" dirty="0">
              <a:latin typeface="Google Sans"/>
            </a:endParaRPr>
          </a:p>
          <a:p>
            <a:endParaRPr lang="en-US" sz="1600" dirty="0"/>
          </a:p>
        </p:txBody>
      </p:sp>
      <p:sp>
        <p:nvSpPr>
          <p:cNvPr id="7" name="CuadroTexto 6">
            <a:extLst>
              <a:ext uri="{FF2B5EF4-FFF2-40B4-BE49-F238E27FC236}">
                <a16:creationId xmlns:a16="http://schemas.microsoft.com/office/drawing/2014/main" id="{508CCAA3-BB52-6B35-860C-FEBB07BADBC6}"/>
              </a:ext>
            </a:extLst>
          </p:cNvPr>
          <p:cNvSpPr txBox="1"/>
          <p:nvPr/>
        </p:nvSpPr>
        <p:spPr>
          <a:xfrm>
            <a:off x="485774" y="1719942"/>
            <a:ext cx="4683577"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latin typeface="Google Sans"/>
                <a:ea typeface="+mn-lt"/>
                <a:cs typeface="+mn-lt"/>
              </a:rPr>
              <a:t>Enteras</a:t>
            </a:r>
            <a:r>
              <a:rPr lang="en-US" b="1" dirty="0">
                <a:latin typeface="Google Sans"/>
                <a:ea typeface="+mn-lt"/>
                <a:cs typeface="+mn-lt"/>
              </a:rPr>
              <a:t> </a:t>
            </a:r>
            <a:endParaRPr lang="es-ES" dirty="0"/>
          </a:p>
          <a:p>
            <a:r>
              <a:rPr lang="en-US" sz="1600" dirty="0" err="1">
                <a:ea typeface="+mn-lt"/>
                <a:cs typeface="+mn-lt"/>
              </a:rPr>
              <a:t>conocidas</a:t>
            </a:r>
            <a:r>
              <a:rPr lang="en-US" sz="1600" dirty="0">
                <a:ea typeface="+mn-lt"/>
                <a:cs typeface="+mn-lt"/>
              </a:rPr>
              <a:t> </a:t>
            </a:r>
            <a:r>
              <a:rPr lang="en-US" sz="1600" dirty="0" err="1">
                <a:ea typeface="+mn-lt"/>
                <a:cs typeface="+mn-lt"/>
              </a:rPr>
              <a:t>como</a:t>
            </a:r>
            <a:r>
              <a:rPr lang="en-US" sz="1600" dirty="0">
                <a:ea typeface="+mn-lt"/>
                <a:cs typeface="+mn-lt"/>
              </a:rPr>
              <a:t> </a:t>
            </a:r>
            <a:r>
              <a:rPr lang="en-US" sz="1100" dirty="0">
                <a:latin typeface="monospace"/>
              </a:rPr>
              <a:t>int</a:t>
            </a:r>
            <a:r>
              <a:rPr lang="en-US" sz="1600" dirty="0">
                <a:ea typeface="+mn-lt"/>
                <a:cs typeface="+mn-lt"/>
              </a:rPr>
              <a:t> </a:t>
            </a:r>
            <a:r>
              <a:rPr lang="en-US" sz="1600" dirty="0" err="1">
                <a:ea typeface="+mn-lt"/>
                <a:cs typeface="+mn-lt"/>
              </a:rPr>
              <a:t>en</a:t>
            </a:r>
            <a:r>
              <a:rPr lang="en-US" sz="1600" dirty="0">
                <a:ea typeface="+mn-lt"/>
                <a:cs typeface="+mn-lt"/>
              </a:rPr>
              <a:t> </a:t>
            </a:r>
            <a:r>
              <a:rPr lang="en-US" sz="1600" dirty="0" err="1">
                <a:ea typeface="+mn-lt"/>
                <a:cs typeface="+mn-lt"/>
              </a:rPr>
              <a:t>programación</a:t>
            </a:r>
            <a:r>
              <a:rPr lang="en-US" sz="1600" dirty="0">
                <a:ea typeface="+mn-lt"/>
                <a:cs typeface="+mn-lt"/>
              </a:rPr>
              <a:t>, </a:t>
            </a:r>
            <a:r>
              <a:rPr lang="en-US" sz="1600" dirty="0" err="1">
                <a:ea typeface="+mn-lt"/>
                <a:cs typeface="+mn-lt"/>
              </a:rPr>
              <a:t>por</a:t>
            </a:r>
            <a:r>
              <a:rPr lang="en-US" sz="1600" dirty="0">
                <a:ea typeface="+mn-lt"/>
                <a:cs typeface="+mn-lt"/>
              </a:rPr>
              <a:t> </a:t>
            </a:r>
            <a:r>
              <a:rPr lang="en-US" sz="1200" i="1" dirty="0">
                <a:ea typeface="+mn-lt"/>
                <a:cs typeface="+mn-lt"/>
              </a:rPr>
              <a:t>integer</a:t>
            </a:r>
            <a:r>
              <a:rPr lang="en-US" sz="1600" dirty="0">
                <a:ea typeface="+mn-lt"/>
                <a:cs typeface="+mn-lt"/>
              </a:rPr>
              <a:t>) </a:t>
            </a:r>
            <a:r>
              <a:rPr lang="en-US" sz="1200" dirty="0">
                <a:ea typeface="+mn-lt"/>
                <a:cs typeface="+mn-lt"/>
              </a:rPr>
              <a:t>son </a:t>
            </a:r>
            <a:r>
              <a:rPr lang="en-US" sz="1200" dirty="0" err="1">
                <a:ea typeface="+mn-lt"/>
                <a:cs typeface="+mn-lt"/>
              </a:rPr>
              <a:t>aquellas</a:t>
            </a:r>
            <a:r>
              <a:rPr lang="en-US" sz="1200" dirty="0">
                <a:ea typeface="+mn-lt"/>
                <a:cs typeface="+mn-lt"/>
              </a:rPr>
              <a:t> </a:t>
            </a:r>
            <a:r>
              <a:rPr lang="en-US" sz="1200" dirty="0" err="1">
                <a:ea typeface="+mn-lt"/>
                <a:cs typeface="+mn-lt"/>
              </a:rPr>
              <a:t>que</a:t>
            </a:r>
            <a:r>
              <a:rPr lang="en-US" sz="1200" dirty="0">
                <a:ea typeface="+mn-lt"/>
                <a:cs typeface="+mn-lt"/>
              </a:rPr>
              <a:t> </a:t>
            </a:r>
            <a:r>
              <a:rPr lang="en-US" sz="1200" dirty="0" err="1">
                <a:ea typeface="+mn-lt"/>
                <a:cs typeface="+mn-lt"/>
              </a:rPr>
              <a:t>guardan</a:t>
            </a:r>
            <a:r>
              <a:rPr lang="en-US" sz="1200" dirty="0">
                <a:ea typeface="+mn-lt"/>
                <a:cs typeface="+mn-lt"/>
              </a:rPr>
              <a:t> </a:t>
            </a:r>
            <a:r>
              <a:rPr lang="en-US" sz="1200" dirty="0" err="1">
                <a:ea typeface="+mn-lt"/>
                <a:cs typeface="+mn-lt"/>
              </a:rPr>
              <a:t>números</a:t>
            </a:r>
            <a:r>
              <a:rPr lang="en-US" sz="1200" dirty="0">
                <a:ea typeface="+mn-lt"/>
                <a:cs typeface="+mn-lt"/>
              </a:rPr>
              <a:t> </a:t>
            </a:r>
            <a:r>
              <a:rPr lang="en-US" sz="1200" b="1" dirty="0">
                <a:ea typeface="+mn-lt"/>
                <a:cs typeface="+mn-lt"/>
              </a:rPr>
              <a:t>sin </a:t>
            </a:r>
            <a:r>
              <a:rPr lang="en-US" sz="1200" b="1" dirty="0" err="1">
                <a:ea typeface="+mn-lt"/>
                <a:cs typeface="+mn-lt"/>
              </a:rPr>
              <a:t>decimales</a:t>
            </a:r>
            <a:r>
              <a:rPr lang="en-US" sz="1200" dirty="0">
                <a:ea typeface="+mn-lt"/>
                <a:cs typeface="+mn-lt"/>
              </a:rPr>
              <a:t>.</a:t>
            </a:r>
          </a:p>
          <a:p>
            <a:r>
              <a:rPr lang="en-US" sz="1200"/>
              <a:t>X = 23</a:t>
            </a:r>
          </a:p>
          <a:p>
            <a:r>
              <a:rPr lang="en-US" sz="1200"/>
              <a:t>T = -54</a:t>
            </a:r>
            <a:endParaRPr lang="en-US" sz="1200" dirty="0"/>
          </a:p>
        </p:txBody>
      </p:sp>
      <p:sp>
        <p:nvSpPr>
          <p:cNvPr id="8" name="CuadroTexto 7">
            <a:extLst>
              <a:ext uri="{FF2B5EF4-FFF2-40B4-BE49-F238E27FC236}">
                <a16:creationId xmlns:a16="http://schemas.microsoft.com/office/drawing/2014/main" id="{AB3DB63B-B980-3C91-BC33-3D76F0F9F9C9}"/>
              </a:ext>
            </a:extLst>
          </p:cNvPr>
          <p:cNvSpPr txBox="1"/>
          <p:nvPr/>
        </p:nvSpPr>
        <p:spPr>
          <a:xfrm>
            <a:off x="5917745" y="2013856"/>
            <a:ext cx="4683577"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Google Sans"/>
                <a:ea typeface="+mn-lt"/>
                <a:cs typeface="+mn-lt"/>
              </a:rPr>
              <a:t>Reales </a:t>
            </a:r>
            <a:endParaRPr lang="es-ES"/>
          </a:p>
          <a:p>
            <a:r>
              <a:rPr lang="en-US" sz="1600" dirty="0" err="1">
                <a:ea typeface="+mn-lt"/>
                <a:cs typeface="+mn-lt"/>
              </a:rPr>
              <a:t>conocidas</a:t>
            </a:r>
            <a:r>
              <a:rPr lang="en-US" sz="1600" dirty="0">
                <a:ea typeface="+mn-lt"/>
                <a:cs typeface="+mn-lt"/>
              </a:rPr>
              <a:t> </a:t>
            </a:r>
            <a:r>
              <a:rPr lang="en-US" sz="1600" dirty="0" err="1">
                <a:ea typeface="+mn-lt"/>
                <a:cs typeface="+mn-lt"/>
              </a:rPr>
              <a:t>como</a:t>
            </a:r>
            <a:r>
              <a:rPr lang="en-US" sz="1600" dirty="0">
                <a:ea typeface="+mn-lt"/>
                <a:cs typeface="+mn-lt"/>
              </a:rPr>
              <a:t> </a:t>
            </a:r>
            <a:r>
              <a:rPr lang="en-US" sz="1600" dirty="0">
                <a:latin typeface="Avenir Next LT Pro"/>
              </a:rPr>
              <a:t>double</a:t>
            </a:r>
            <a:r>
              <a:rPr lang="en-US" sz="1600" dirty="0">
                <a:latin typeface="Avenir Next LT Pro"/>
                <a:ea typeface="+mn-lt"/>
                <a:cs typeface="+mn-lt"/>
              </a:rPr>
              <a:t> y float</a:t>
            </a:r>
            <a:r>
              <a:rPr lang="en-US" sz="1100" dirty="0">
                <a:latin typeface="monospace"/>
                <a:ea typeface="+mn-lt"/>
                <a:cs typeface="+mn-lt"/>
              </a:rPr>
              <a:t> </a:t>
            </a:r>
            <a:r>
              <a:rPr lang="en-US" sz="1600" dirty="0" err="1">
                <a:ea typeface="+mn-lt"/>
                <a:cs typeface="+mn-lt"/>
              </a:rPr>
              <a:t>en</a:t>
            </a:r>
            <a:r>
              <a:rPr lang="en-US" sz="1600" dirty="0">
                <a:ea typeface="+mn-lt"/>
                <a:cs typeface="+mn-lt"/>
              </a:rPr>
              <a:t> </a:t>
            </a:r>
            <a:r>
              <a:rPr lang="en-US" sz="1600" dirty="0" err="1">
                <a:ea typeface="+mn-lt"/>
                <a:cs typeface="+mn-lt"/>
              </a:rPr>
              <a:t>programación</a:t>
            </a:r>
            <a:r>
              <a:rPr lang="en-US" sz="1600" dirty="0">
                <a:ea typeface="+mn-lt"/>
                <a:cs typeface="+mn-lt"/>
              </a:rPr>
              <a:t>) </a:t>
            </a:r>
            <a:r>
              <a:rPr lang="en-US" sz="1200" dirty="0">
                <a:ea typeface="+mn-lt"/>
                <a:cs typeface="+mn-lt"/>
              </a:rPr>
              <a:t>son </a:t>
            </a:r>
            <a:r>
              <a:rPr lang="en-US" sz="1200" dirty="0" err="1">
                <a:ea typeface="+mn-lt"/>
                <a:cs typeface="+mn-lt"/>
              </a:rPr>
              <a:t>aquellas</a:t>
            </a:r>
            <a:r>
              <a:rPr lang="en-US" sz="1200" dirty="0">
                <a:ea typeface="+mn-lt"/>
                <a:cs typeface="+mn-lt"/>
              </a:rPr>
              <a:t> </a:t>
            </a:r>
            <a:r>
              <a:rPr lang="en-US" sz="1200" dirty="0" err="1">
                <a:ea typeface="+mn-lt"/>
                <a:cs typeface="+mn-lt"/>
              </a:rPr>
              <a:t>que</a:t>
            </a:r>
            <a:r>
              <a:rPr lang="en-US" sz="1200" dirty="0">
                <a:ea typeface="+mn-lt"/>
                <a:cs typeface="+mn-lt"/>
              </a:rPr>
              <a:t> </a:t>
            </a:r>
            <a:r>
              <a:rPr lang="en-US" sz="1200" dirty="0" err="1">
                <a:ea typeface="+mn-lt"/>
                <a:cs typeface="+mn-lt"/>
              </a:rPr>
              <a:t>guardan</a:t>
            </a:r>
            <a:r>
              <a:rPr lang="en-US" sz="1200" dirty="0">
                <a:ea typeface="+mn-lt"/>
                <a:cs typeface="+mn-lt"/>
              </a:rPr>
              <a:t> </a:t>
            </a:r>
            <a:r>
              <a:rPr lang="en-US" sz="1200" dirty="0" err="1">
                <a:ea typeface="+mn-lt"/>
                <a:cs typeface="+mn-lt"/>
              </a:rPr>
              <a:t>números</a:t>
            </a:r>
            <a:r>
              <a:rPr lang="en-US" sz="1200" dirty="0">
                <a:ea typeface="+mn-lt"/>
                <a:cs typeface="+mn-lt"/>
              </a:rPr>
              <a:t> con </a:t>
            </a:r>
            <a:r>
              <a:rPr lang="en-US" sz="1200" b="1" dirty="0">
                <a:ea typeface="+mn-lt"/>
                <a:cs typeface="+mn-lt"/>
              </a:rPr>
              <a:t> </a:t>
            </a:r>
            <a:r>
              <a:rPr lang="en-US" sz="1200" b="1" dirty="0" err="1">
                <a:ea typeface="+mn-lt"/>
                <a:cs typeface="+mn-lt"/>
              </a:rPr>
              <a:t>decimales</a:t>
            </a:r>
            <a:r>
              <a:rPr lang="en-US" sz="1200" dirty="0">
                <a:ea typeface="+mn-lt"/>
                <a:cs typeface="+mn-lt"/>
              </a:rPr>
              <a:t>.</a:t>
            </a:r>
          </a:p>
          <a:p>
            <a:r>
              <a:rPr lang="en-US" sz="1200"/>
              <a:t>X = 23,56</a:t>
            </a:r>
          </a:p>
          <a:p>
            <a:r>
              <a:rPr lang="en-US" sz="1200"/>
              <a:t>T = -54,9</a:t>
            </a:r>
            <a:endParaRPr lang="en-US" sz="1200" dirty="0"/>
          </a:p>
        </p:txBody>
      </p:sp>
      <p:pic>
        <p:nvPicPr>
          <p:cNvPr id="9" name="Imagen 8" descr="Interfaz de usuario gráfica, Texto&#10;&#10;El contenido generado por IA puede ser incorrecto.">
            <a:extLst>
              <a:ext uri="{FF2B5EF4-FFF2-40B4-BE49-F238E27FC236}">
                <a16:creationId xmlns:a16="http://schemas.microsoft.com/office/drawing/2014/main" id="{CE22089E-968E-E828-D20F-88EC6E1846E3}"/>
              </a:ext>
            </a:extLst>
          </p:cNvPr>
          <p:cNvPicPr>
            <a:picLocks noChangeAspect="1"/>
          </p:cNvPicPr>
          <p:nvPr/>
        </p:nvPicPr>
        <p:blipFill>
          <a:blip r:embed="rId3"/>
          <a:stretch>
            <a:fillRect/>
          </a:stretch>
        </p:blipFill>
        <p:spPr>
          <a:xfrm>
            <a:off x="373517" y="4325710"/>
            <a:ext cx="5359854" cy="2288722"/>
          </a:xfrm>
          <a:prstGeom prst="rect">
            <a:avLst/>
          </a:prstGeom>
        </p:spPr>
      </p:pic>
      <p:pic>
        <p:nvPicPr>
          <p:cNvPr id="10" name="Imagen 9" descr="Texto&#10;&#10;El contenido generado por IA puede ser incorrecto.">
            <a:extLst>
              <a:ext uri="{FF2B5EF4-FFF2-40B4-BE49-F238E27FC236}">
                <a16:creationId xmlns:a16="http://schemas.microsoft.com/office/drawing/2014/main" id="{4399418C-F02B-3523-A059-AECD5D4DE98F}"/>
              </a:ext>
            </a:extLst>
          </p:cNvPr>
          <p:cNvPicPr>
            <a:picLocks noChangeAspect="1"/>
          </p:cNvPicPr>
          <p:nvPr/>
        </p:nvPicPr>
        <p:blipFill>
          <a:blip r:embed="rId4"/>
          <a:stretch>
            <a:fillRect/>
          </a:stretch>
        </p:blipFill>
        <p:spPr>
          <a:xfrm>
            <a:off x="6197374" y="4140654"/>
            <a:ext cx="5381625" cy="2288722"/>
          </a:xfrm>
          <a:prstGeom prst="rect">
            <a:avLst/>
          </a:prstGeom>
        </p:spPr>
      </p:pic>
    </p:spTree>
    <p:extLst>
      <p:ext uri="{BB962C8B-B14F-4D97-AF65-F5344CB8AC3E}">
        <p14:creationId xmlns:p14="http://schemas.microsoft.com/office/powerpoint/2010/main" val="938155738"/>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7</Slides>
  <Notes>0</Notes>
  <HiddenSlides>0</HiddenSlides>
  <MMClips>0</MMClips>
  <ScaleCrop>false</ScaleCrop>
  <HeadingPairs>
    <vt:vector size="4" baseType="variant">
      <vt:variant>
        <vt:lpstr>Tema</vt:lpstr>
      </vt:variant>
      <vt:variant>
        <vt:i4>1</vt:i4>
      </vt:variant>
      <vt:variant>
        <vt:lpstr>Títulos de diapositiva</vt:lpstr>
      </vt:variant>
      <vt:variant>
        <vt:i4>7</vt:i4>
      </vt:variant>
    </vt:vector>
  </HeadingPairs>
  <TitlesOfParts>
    <vt:vector size="8" baseType="lpstr">
      <vt:lpstr>AccentBoxVTI</vt:lpstr>
      <vt:lpstr>Procesador memoria Ram memoria Rom</vt:lpstr>
      <vt:lpstr>Codigo Binario – Lenguaje Maquina</vt:lpstr>
      <vt:lpstr>Codigo Ascii</vt:lpstr>
      <vt:lpstr>Variables – Constantes </vt:lpstr>
      <vt:lpstr>Variables  </vt:lpstr>
      <vt:lpstr>Tipos Variables  </vt:lpstr>
      <vt:lpstr>Numéricas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196</cp:revision>
  <dcterms:created xsi:type="dcterms:W3CDTF">2026-04-15T02:42:31Z</dcterms:created>
  <dcterms:modified xsi:type="dcterms:W3CDTF">2026-04-15T03:48:04Z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111285-cafa-4fc9-8a9a-bd902089b24f_Enabled">
    <vt:lpwstr>true</vt:lpwstr>
  </property>
  <property fmtid="{D5CDD505-2E9C-101B-9397-08002B2CF9AE}" pid="3" name="MSIP_Label_fc111285-cafa-4fc9-8a9a-bd902089b24f_SetDate">
    <vt:lpwstr>2026-04-15T02:42:46Z</vt:lpwstr>
  </property>
  <property fmtid="{D5CDD505-2E9C-101B-9397-08002B2CF9AE}" pid="4" name="MSIP_Label_fc111285-cafa-4fc9-8a9a-bd902089b24f_Method">
    <vt:lpwstr>Privileged</vt:lpwstr>
  </property>
  <property fmtid="{D5CDD505-2E9C-101B-9397-08002B2CF9AE}" pid="5" name="MSIP_Label_fc111285-cafa-4fc9-8a9a-bd902089b24f_Name">
    <vt:lpwstr>Public</vt:lpwstr>
  </property>
  <property fmtid="{D5CDD505-2E9C-101B-9397-08002B2CF9AE}" pid="6" name="MSIP_Label_fc111285-cafa-4fc9-8a9a-bd902089b24f_SiteId">
    <vt:lpwstr>cbc2c381-2f2e-4d93-91d1-506c9316ace7</vt:lpwstr>
  </property>
  <property fmtid="{D5CDD505-2E9C-101B-9397-08002B2CF9AE}" pid="7" name="MSIP_Label_fc111285-cafa-4fc9-8a9a-bd902089b24f_ActionId">
    <vt:lpwstr>637d17cb-03cc-4e7a-978e-46fb1efbe10b</vt:lpwstr>
  </property>
  <property fmtid="{D5CDD505-2E9C-101B-9397-08002B2CF9AE}" pid="8" name="MSIP_Label_fc111285-cafa-4fc9-8a9a-bd902089b24f_ContentBits">
    <vt:lpwstr>0</vt:lpwstr>
  </property>
  <property fmtid="{D5CDD505-2E9C-101B-9397-08002B2CF9AE}" pid="9" name="MSIP_Label_fc111285-cafa-4fc9-8a9a-bd902089b24f_Tag">
    <vt:lpwstr>10, 0, 1, 2</vt:lpwstr>
  </property>
</Properties>
</file>